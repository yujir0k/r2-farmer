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7" r:id="rId14"/>
    <p:sldId id="278" r:id="rId15"/>
    <p:sldId id="279" r:id="rId16"/>
    <p:sldId id="280" r:id="rId17"/>
    <p:sldId id="284" r:id="rId18"/>
    <p:sldId id="285" r:id="rId19"/>
    <p:sldId id="286" r:id="rId20"/>
    <p:sldId id="269" r:id="rId21"/>
    <p:sldId id="270" r:id="rId22"/>
    <p:sldId id="271" r:id="rId23"/>
    <p:sldId id="272" r:id="rId24"/>
    <p:sldId id="273" r:id="rId25"/>
  </p:sldIdLst>
  <p:sldSz cx="18288000" cy="10287000"/>
  <p:notesSz cx="6858000" cy="9144000"/>
  <p:embeddedFontLst>
    <p:embeddedFont>
      <p:font typeface="Akzidenz-Grotesk Bold" panose="020B0604020202020204" charset="0"/>
      <p:regular r:id="rId26"/>
    </p:embeddedFont>
    <p:embeddedFont>
      <p:font typeface="Klein Heavy" panose="020B0604020202020204" charset="0"/>
      <p:regular r:id="rId27"/>
    </p:embeddedFont>
    <p:embeddedFont>
      <p:font typeface="Noto Sans" panose="020B0502040504020204" pitchFamily="34" charset="0"/>
      <p:regular r:id="rId28"/>
      <p:bold r:id="rId29"/>
      <p:italic r:id="rId30"/>
      <p:boldItalic r:id="rId31"/>
    </p:embeddedFont>
    <p:embeddedFont>
      <p:font typeface="Noto Sans Bold" panose="020B0802040504020204" pitchFamily="34" charset="0"/>
      <p:regular r:id="rId32"/>
      <p:bold r:id="rId33"/>
    </p:embeddedFont>
    <p:embeddedFont>
      <p:font typeface="Open Sans Bold" panose="020B0604020202020204" charset="0"/>
      <p:regular r:id="rId34"/>
    </p:embeddedFont>
    <p:embeddedFont>
      <p:font typeface="Open Sauce" panose="020B0604020202020204" charset="0"/>
      <p:regular r:id="rId35"/>
    </p:embeddedFont>
    <p:embeddedFont>
      <p:font typeface="Open Sauce Bold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>
      <p:cViewPr varScale="1">
        <p:scale>
          <a:sx n="69" d="100"/>
          <a:sy n="69" d="100"/>
        </p:scale>
        <p:origin x="63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8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jpeg"/><Relationship Id="rId9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21.jpeg"/><Relationship Id="rId9" Type="http://schemas.openxmlformats.org/officeDocument/2006/relationships/image" Target="../media/image2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14268" y="9644444"/>
            <a:ext cx="19516537" cy="3086100"/>
            <a:chOff x="0" y="0"/>
            <a:chExt cx="514015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40158" cy="812800"/>
            </a:xfrm>
            <a:custGeom>
              <a:avLst/>
              <a:gdLst/>
              <a:ahLst/>
              <a:cxnLst/>
              <a:rect l="l" t="t" r="r" b="b"/>
              <a:pathLst>
                <a:path w="5140158" h="812800">
                  <a:moveTo>
                    <a:pt x="0" y="0"/>
                  </a:moveTo>
                  <a:lnTo>
                    <a:pt x="5140158" y="0"/>
                  </a:lnTo>
                  <a:lnTo>
                    <a:pt x="514015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42525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4015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898317" y="1572437"/>
            <a:ext cx="9963441" cy="8194930"/>
          </a:xfrm>
          <a:custGeom>
            <a:avLst/>
            <a:gdLst/>
            <a:ahLst/>
            <a:cxnLst/>
            <a:rect l="l" t="t" r="r" b="b"/>
            <a:pathLst>
              <a:path w="9963441" h="8194930">
                <a:moveTo>
                  <a:pt x="9963440" y="0"/>
                </a:moveTo>
                <a:lnTo>
                  <a:pt x="0" y="0"/>
                </a:lnTo>
                <a:lnTo>
                  <a:pt x="0" y="8194930"/>
                </a:lnTo>
                <a:lnTo>
                  <a:pt x="9963440" y="8194930"/>
                </a:lnTo>
                <a:lnTo>
                  <a:pt x="996344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>
            <a:off x="11119455" y="7223428"/>
            <a:ext cx="1625724" cy="2496314"/>
          </a:xfrm>
          <a:custGeom>
            <a:avLst/>
            <a:gdLst/>
            <a:ahLst/>
            <a:cxnLst/>
            <a:rect l="l" t="t" r="r" b="b"/>
            <a:pathLst>
              <a:path w="1625724" h="2496314">
                <a:moveTo>
                  <a:pt x="0" y="0"/>
                </a:moveTo>
                <a:lnTo>
                  <a:pt x="1625724" y="0"/>
                </a:lnTo>
                <a:lnTo>
                  <a:pt x="1625724" y="2496314"/>
                </a:lnTo>
                <a:lnTo>
                  <a:pt x="0" y="2496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Freeform 7"/>
          <p:cNvSpPr/>
          <p:nvPr/>
        </p:nvSpPr>
        <p:spPr>
          <a:xfrm>
            <a:off x="-1351599" y="-1614789"/>
            <a:ext cx="3253027" cy="3253027"/>
          </a:xfrm>
          <a:custGeom>
            <a:avLst/>
            <a:gdLst/>
            <a:ahLst/>
            <a:cxnLst/>
            <a:rect l="l" t="t" r="r" b="b"/>
            <a:pathLst>
              <a:path w="3253027" h="3253027">
                <a:moveTo>
                  <a:pt x="0" y="0"/>
                </a:moveTo>
                <a:lnTo>
                  <a:pt x="3253027" y="0"/>
                </a:lnTo>
                <a:lnTo>
                  <a:pt x="3253027" y="3253026"/>
                </a:lnTo>
                <a:lnTo>
                  <a:pt x="0" y="32530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Freeform 8"/>
          <p:cNvSpPr/>
          <p:nvPr/>
        </p:nvSpPr>
        <p:spPr>
          <a:xfrm>
            <a:off x="16386572" y="8648763"/>
            <a:ext cx="3253027" cy="3253027"/>
          </a:xfrm>
          <a:custGeom>
            <a:avLst/>
            <a:gdLst/>
            <a:ahLst/>
            <a:cxnLst/>
            <a:rect l="l" t="t" r="r" b="b"/>
            <a:pathLst>
              <a:path w="3253027" h="3253027">
                <a:moveTo>
                  <a:pt x="0" y="0"/>
                </a:moveTo>
                <a:lnTo>
                  <a:pt x="3253027" y="0"/>
                </a:lnTo>
                <a:lnTo>
                  <a:pt x="3253027" y="3253026"/>
                </a:lnTo>
                <a:lnTo>
                  <a:pt x="0" y="32530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9" name="Freeform 9"/>
          <p:cNvSpPr/>
          <p:nvPr/>
        </p:nvSpPr>
        <p:spPr>
          <a:xfrm>
            <a:off x="1901428" y="2363439"/>
            <a:ext cx="906166" cy="936606"/>
          </a:xfrm>
          <a:custGeom>
            <a:avLst/>
            <a:gdLst/>
            <a:ahLst/>
            <a:cxnLst/>
            <a:rect l="l" t="t" r="r" b="b"/>
            <a:pathLst>
              <a:path w="906166" h="936606">
                <a:moveTo>
                  <a:pt x="0" y="0"/>
                </a:moveTo>
                <a:lnTo>
                  <a:pt x="906166" y="0"/>
                </a:lnTo>
                <a:lnTo>
                  <a:pt x="906166" y="936606"/>
                </a:lnTo>
                <a:lnTo>
                  <a:pt x="0" y="936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Freeform 10"/>
          <p:cNvSpPr/>
          <p:nvPr/>
        </p:nvSpPr>
        <p:spPr>
          <a:xfrm flipH="1">
            <a:off x="13378404" y="7842260"/>
            <a:ext cx="906166" cy="936606"/>
          </a:xfrm>
          <a:custGeom>
            <a:avLst/>
            <a:gdLst/>
            <a:ahLst/>
            <a:cxnLst/>
            <a:rect l="l" t="t" r="r" b="b"/>
            <a:pathLst>
              <a:path w="906166" h="936606">
                <a:moveTo>
                  <a:pt x="906166" y="0"/>
                </a:moveTo>
                <a:lnTo>
                  <a:pt x="0" y="0"/>
                </a:lnTo>
                <a:lnTo>
                  <a:pt x="0" y="936605"/>
                </a:lnTo>
                <a:lnTo>
                  <a:pt x="906166" y="936605"/>
                </a:lnTo>
                <a:lnTo>
                  <a:pt x="9061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8474003" y="1153980"/>
            <a:ext cx="8785297" cy="2408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85"/>
              </a:lnSpc>
            </a:pPr>
            <a:r>
              <a:rPr lang="en-US" sz="6918" b="1" u="none" strike="noStrike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AI-анализ здоровья полей </a:t>
            </a:r>
            <a:r>
              <a:rPr lang="en-US" sz="6918" b="1" u="none" strike="noStrike">
                <a:solidFill>
                  <a:srgbClr val="FFDE59"/>
                </a:solidFill>
                <a:latin typeface="Klein Heavy"/>
                <a:ea typeface="Klein Heavy"/>
                <a:cs typeface="Klein Heavy"/>
                <a:sym typeface="Klein Heavy"/>
              </a:rPr>
              <a:t>R2-фермер²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474003" y="3993289"/>
            <a:ext cx="8785297" cy="856644"/>
            <a:chOff x="0" y="0"/>
            <a:chExt cx="1965321" cy="1916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65321" cy="191636"/>
            </a:xfrm>
            <a:custGeom>
              <a:avLst/>
              <a:gdLst/>
              <a:ahLst/>
              <a:cxnLst/>
              <a:rect l="l" t="t" r="r" b="b"/>
              <a:pathLst>
                <a:path w="1965321" h="191636">
                  <a:moveTo>
                    <a:pt x="87242" y="0"/>
                  </a:moveTo>
                  <a:lnTo>
                    <a:pt x="1878079" y="0"/>
                  </a:lnTo>
                  <a:cubicBezTo>
                    <a:pt x="1901217" y="0"/>
                    <a:pt x="1923407" y="9192"/>
                    <a:pt x="1939768" y="25553"/>
                  </a:cubicBezTo>
                  <a:cubicBezTo>
                    <a:pt x="1956129" y="41914"/>
                    <a:pt x="1965321" y="64104"/>
                    <a:pt x="1965321" y="87242"/>
                  </a:cubicBezTo>
                  <a:lnTo>
                    <a:pt x="1965321" y="104394"/>
                  </a:lnTo>
                  <a:cubicBezTo>
                    <a:pt x="1965321" y="152576"/>
                    <a:pt x="1926261" y="191636"/>
                    <a:pt x="1878079" y="191636"/>
                  </a:cubicBezTo>
                  <a:lnTo>
                    <a:pt x="87242" y="191636"/>
                  </a:lnTo>
                  <a:cubicBezTo>
                    <a:pt x="39060" y="191636"/>
                    <a:pt x="0" y="152576"/>
                    <a:pt x="0" y="104394"/>
                  </a:cubicBezTo>
                  <a:lnTo>
                    <a:pt x="0" y="87242"/>
                  </a:lnTo>
                  <a:cubicBezTo>
                    <a:pt x="0" y="39060"/>
                    <a:pt x="39060" y="0"/>
                    <a:pt x="8724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65321" cy="229736"/>
            </a:xfrm>
            <a:prstGeom prst="rect">
              <a:avLst/>
            </a:prstGeom>
          </p:spPr>
          <p:txBody>
            <a:bodyPr lIns="54713" tIns="54713" rIns="54713" bIns="54713" rtlCol="0" anchor="ctr"/>
            <a:lstStyle/>
            <a:p>
              <a:pPr marL="410213" lvl="1" indent="-205106" algn="ctr">
                <a:lnSpc>
                  <a:spcPts val="2660"/>
                </a:lnSpc>
                <a:buFont typeface="Arial"/>
                <a:buChar char="•"/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847476" y="4037022"/>
            <a:ext cx="8038350" cy="692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9"/>
              </a:lnSpc>
            </a:pPr>
            <a:r>
              <a:rPr lang="en-US" sz="4056" b="1">
                <a:solidFill>
                  <a:srgbClr val="000000"/>
                </a:solidFill>
                <a:latin typeface="Klein Heavy"/>
                <a:ea typeface="Klein Heavy"/>
                <a:cs typeface="Klein Heavy"/>
                <a:sym typeface="Klein Heavy"/>
              </a:rPr>
              <a:t>Решение команды R² negative</a:t>
            </a:r>
          </a:p>
        </p:txBody>
      </p:sp>
      <p:sp>
        <p:nvSpPr>
          <p:cNvPr id="16" name="Freeform 16"/>
          <p:cNvSpPr/>
          <p:nvPr/>
        </p:nvSpPr>
        <p:spPr>
          <a:xfrm>
            <a:off x="-1237012" y="8217876"/>
            <a:ext cx="2474023" cy="4114800"/>
          </a:xfrm>
          <a:custGeom>
            <a:avLst/>
            <a:gdLst/>
            <a:ahLst/>
            <a:cxnLst/>
            <a:rect l="l" t="t" r="r" b="b"/>
            <a:pathLst>
              <a:path w="2474023" h="4114800">
                <a:moveTo>
                  <a:pt x="0" y="0"/>
                </a:moveTo>
                <a:lnTo>
                  <a:pt x="2474024" y="0"/>
                </a:lnTo>
                <a:lnTo>
                  <a:pt x="24740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7" name="Freeform 17"/>
          <p:cNvSpPr/>
          <p:nvPr/>
        </p:nvSpPr>
        <p:spPr>
          <a:xfrm>
            <a:off x="17388740" y="5659712"/>
            <a:ext cx="4237439" cy="1668492"/>
          </a:xfrm>
          <a:custGeom>
            <a:avLst/>
            <a:gdLst/>
            <a:ahLst/>
            <a:cxnLst/>
            <a:rect l="l" t="t" r="r" b="b"/>
            <a:pathLst>
              <a:path w="4237439" h="1668492">
                <a:moveTo>
                  <a:pt x="0" y="0"/>
                </a:moveTo>
                <a:lnTo>
                  <a:pt x="4237439" y="0"/>
                </a:lnTo>
                <a:lnTo>
                  <a:pt x="4237439" y="1668491"/>
                </a:lnTo>
                <a:lnTo>
                  <a:pt x="0" y="1668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340" y="464696"/>
            <a:ext cx="2872454" cy="796871"/>
          </a:xfrm>
          <a:custGeom>
            <a:avLst/>
            <a:gdLst/>
            <a:ahLst/>
            <a:cxnLst/>
            <a:rect l="l" t="t" r="r" b="b"/>
            <a:pathLst>
              <a:path w="2872454" h="796871">
                <a:moveTo>
                  <a:pt x="0" y="0"/>
                </a:moveTo>
                <a:lnTo>
                  <a:pt x="2872454" y="0"/>
                </a:lnTo>
                <a:lnTo>
                  <a:pt x="2872454" y="796871"/>
                </a:lnTo>
                <a:lnTo>
                  <a:pt x="0" y="796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-165323" y="1552956"/>
            <a:ext cx="18681923" cy="1510357"/>
          </a:xfrm>
          <a:custGeom>
            <a:avLst/>
            <a:gdLst/>
            <a:ahLst/>
            <a:cxnLst/>
            <a:rect l="l" t="t" r="r" b="b"/>
            <a:pathLst>
              <a:path w="18519865" h="1510357">
                <a:moveTo>
                  <a:pt x="0" y="0"/>
                </a:moveTo>
                <a:lnTo>
                  <a:pt x="18519865" y="0"/>
                </a:lnTo>
                <a:lnTo>
                  <a:pt x="18519865" y="1510357"/>
                </a:lnTo>
                <a:lnTo>
                  <a:pt x="0" y="15103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Freeform 4"/>
          <p:cNvSpPr/>
          <p:nvPr/>
        </p:nvSpPr>
        <p:spPr>
          <a:xfrm>
            <a:off x="4204002" y="528199"/>
            <a:ext cx="3184874" cy="669874"/>
          </a:xfrm>
          <a:custGeom>
            <a:avLst/>
            <a:gdLst/>
            <a:ahLst/>
            <a:cxnLst/>
            <a:rect l="l" t="t" r="r" b="b"/>
            <a:pathLst>
              <a:path w="3184874" h="669874">
                <a:moveTo>
                  <a:pt x="0" y="0"/>
                </a:moveTo>
                <a:lnTo>
                  <a:pt x="3184874" y="0"/>
                </a:lnTo>
                <a:lnTo>
                  <a:pt x="3184874" y="669875"/>
                </a:lnTo>
                <a:lnTo>
                  <a:pt x="0" y="669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5036315" y="649605"/>
            <a:ext cx="1550641" cy="41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80095" y="670236"/>
            <a:ext cx="1043168" cy="38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Пункты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57710" y="489871"/>
            <a:ext cx="1320689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8"/>
              </a:lnSpc>
            </a:pPr>
            <a:r>
              <a:rPr lang="en-US" sz="3413" b="1" dirty="0">
                <a:solidFill>
                  <a:srgbClr val="FFDE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7154" y="1959978"/>
            <a:ext cx="317440" cy="197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234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/3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80095" y="2231093"/>
            <a:ext cx="13223403" cy="603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6999" b="1">
                <a:solidFill>
                  <a:srgbClr val="171717"/>
                </a:solidFill>
                <a:latin typeface="Klein Heavy"/>
                <a:ea typeface="Klein Heavy"/>
                <a:cs typeface="Klein Heavy"/>
                <a:sym typeface="Klein Heavy"/>
              </a:rPr>
              <a:t>НАША КОМАНДА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8064" y="3171414"/>
            <a:ext cx="632136" cy="636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2340" dirty="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8804" y="4814859"/>
            <a:ext cx="879996" cy="636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2340" dirty="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/12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5822" y="6458293"/>
            <a:ext cx="1034271" cy="636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2340" dirty="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/16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9253" y="8101727"/>
            <a:ext cx="971173" cy="645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2340" dirty="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/19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40427" y="3314290"/>
            <a:ext cx="5448449" cy="12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ПРОБЛЕМА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40427" y="4957734"/>
            <a:ext cx="7616279" cy="12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НАШЕ РЕШЕНИЕ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80095" y="6637315"/>
            <a:ext cx="13458257" cy="12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СКРИНКАСТ ПРОЕКТА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80094" y="8244602"/>
            <a:ext cx="4606861" cy="1203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ИТОГИ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378" y="464696"/>
            <a:ext cx="3498790" cy="796871"/>
          </a:xfrm>
          <a:custGeom>
            <a:avLst/>
            <a:gdLst/>
            <a:ahLst/>
            <a:cxnLst/>
            <a:rect l="l" t="t" r="r" b="b"/>
            <a:pathLst>
              <a:path w="3498790" h="796871">
                <a:moveTo>
                  <a:pt x="0" y="0"/>
                </a:moveTo>
                <a:lnTo>
                  <a:pt x="3498789" y="0"/>
                </a:lnTo>
                <a:lnTo>
                  <a:pt x="3498789" y="796871"/>
                </a:lnTo>
                <a:lnTo>
                  <a:pt x="0" y="796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4680252" y="528199"/>
            <a:ext cx="3184874" cy="669874"/>
          </a:xfrm>
          <a:custGeom>
            <a:avLst/>
            <a:gdLst/>
            <a:ahLst/>
            <a:cxnLst/>
            <a:rect l="l" t="t" r="r" b="b"/>
            <a:pathLst>
              <a:path w="3184874" h="669874">
                <a:moveTo>
                  <a:pt x="0" y="0"/>
                </a:moveTo>
                <a:lnTo>
                  <a:pt x="3184874" y="0"/>
                </a:lnTo>
                <a:lnTo>
                  <a:pt x="3184874" y="669875"/>
                </a:lnTo>
                <a:lnTo>
                  <a:pt x="0" y="669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Freeform 4"/>
          <p:cNvSpPr/>
          <p:nvPr/>
        </p:nvSpPr>
        <p:spPr>
          <a:xfrm>
            <a:off x="966902" y="3328483"/>
            <a:ext cx="5020675" cy="4640047"/>
          </a:xfrm>
          <a:custGeom>
            <a:avLst/>
            <a:gdLst/>
            <a:ahLst/>
            <a:cxnLst/>
            <a:rect l="l" t="t" r="r" b="b"/>
            <a:pathLst>
              <a:path w="5020675" h="4640047">
                <a:moveTo>
                  <a:pt x="0" y="0"/>
                </a:moveTo>
                <a:lnTo>
                  <a:pt x="5020675" y="0"/>
                </a:lnTo>
                <a:lnTo>
                  <a:pt x="5020675" y="4640046"/>
                </a:lnTo>
                <a:lnTo>
                  <a:pt x="0" y="4640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124" b="-4078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Freeform 5"/>
          <p:cNvSpPr/>
          <p:nvPr/>
        </p:nvSpPr>
        <p:spPr>
          <a:xfrm>
            <a:off x="966797" y="6339259"/>
            <a:ext cx="5022761" cy="2040255"/>
          </a:xfrm>
          <a:custGeom>
            <a:avLst/>
            <a:gdLst/>
            <a:ahLst/>
            <a:cxnLst/>
            <a:rect l="l" t="t" r="r" b="b"/>
            <a:pathLst>
              <a:path w="5022761" h="2040255">
                <a:moveTo>
                  <a:pt x="0" y="0"/>
                </a:moveTo>
                <a:lnTo>
                  <a:pt x="5022761" y="0"/>
                </a:lnTo>
                <a:lnTo>
                  <a:pt x="5022761" y="2040255"/>
                </a:lnTo>
                <a:lnTo>
                  <a:pt x="0" y="2040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>
            <a:off x="6632610" y="3328483"/>
            <a:ext cx="5020675" cy="4640047"/>
          </a:xfrm>
          <a:custGeom>
            <a:avLst/>
            <a:gdLst/>
            <a:ahLst/>
            <a:cxnLst/>
            <a:rect l="l" t="t" r="r" b="b"/>
            <a:pathLst>
              <a:path w="5020675" h="4640047">
                <a:moveTo>
                  <a:pt x="0" y="0"/>
                </a:moveTo>
                <a:lnTo>
                  <a:pt x="5020675" y="0"/>
                </a:lnTo>
                <a:lnTo>
                  <a:pt x="5020675" y="4640046"/>
                </a:lnTo>
                <a:lnTo>
                  <a:pt x="0" y="46400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5245" b="-145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Freeform 7"/>
          <p:cNvSpPr/>
          <p:nvPr/>
        </p:nvSpPr>
        <p:spPr>
          <a:xfrm>
            <a:off x="6632496" y="6339259"/>
            <a:ext cx="5022761" cy="2040255"/>
          </a:xfrm>
          <a:custGeom>
            <a:avLst/>
            <a:gdLst/>
            <a:ahLst/>
            <a:cxnLst/>
            <a:rect l="l" t="t" r="r" b="b"/>
            <a:pathLst>
              <a:path w="5022761" h="2040255">
                <a:moveTo>
                  <a:pt x="0" y="0"/>
                </a:moveTo>
                <a:lnTo>
                  <a:pt x="5022761" y="0"/>
                </a:lnTo>
                <a:lnTo>
                  <a:pt x="5022761" y="2040255"/>
                </a:lnTo>
                <a:lnTo>
                  <a:pt x="0" y="2040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Freeform 8"/>
          <p:cNvSpPr/>
          <p:nvPr/>
        </p:nvSpPr>
        <p:spPr>
          <a:xfrm>
            <a:off x="12298309" y="3328483"/>
            <a:ext cx="5020675" cy="4640047"/>
          </a:xfrm>
          <a:custGeom>
            <a:avLst/>
            <a:gdLst/>
            <a:ahLst/>
            <a:cxnLst/>
            <a:rect l="l" t="t" r="r" b="b"/>
            <a:pathLst>
              <a:path w="5020675" h="4640047">
                <a:moveTo>
                  <a:pt x="0" y="0"/>
                </a:moveTo>
                <a:lnTo>
                  <a:pt x="5020675" y="0"/>
                </a:lnTo>
                <a:lnTo>
                  <a:pt x="5020675" y="4640046"/>
                </a:lnTo>
                <a:lnTo>
                  <a:pt x="0" y="46400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3929" t="-107708" r="-114" b="-104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9" name="Freeform 9"/>
          <p:cNvSpPr/>
          <p:nvPr/>
        </p:nvSpPr>
        <p:spPr>
          <a:xfrm>
            <a:off x="1388393" y="695858"/>
            <a:ext cx="340376" cy="340376"/>
          </a:xfrm>
          <a:custGeom>
            <a:avLst/>
            <a:gdLst/>
            <a:ahLst/>
            <a:cxnLst/>
            <a:rect l="l" t="t" r="r" b="b"/>
            <a:pathLst>
              <a:path w="340376" h="340376">
                <a:moveTo>
                  <a:pt x="0" y="0"/>
                </a:moveTo>
                <a:lnTo>
                  <a:pt x="340375" y="0"/>
                </a:lnTo>
                <a:lnTo>
                  <a:pt x="340375" y="340376"/>
                </a:lnTo>
                <a:lnTo>
                  <a:pt x="0" y="3403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Freeform 10"/>
          <p:cNvSpPr/>
          <p:nvPr/>
        </p:nvSpPr>
        <p:spPr>
          <a:xfrm>
            <a:off x="12298204" y="6339259"/>
            <a:ext cx="5022761" cy="2040255"/>
          </a:xfrm>
          <a:custGeom>
            <a:avLst/>
            <a:gdLst/>
            <a:ahLst/>
            <a:cxnLst/>
            <a:rect l="l" t="t" r="r" b="b"/>
            <a:pathLst>
              <a:path w="5022761" h="2040255">
                <a:moveTo>
                  <a:pt x="0" y="0"/>
                </a:moveTo>
                <a:lnTo>
                  <a:pt x="5022761" y="0"/>
                </a:lnTo>
                <a:lnTo>
                  <a:pt x="5022761" y="2040255"/>
                </a:lnTo>
                <a:lnTo>
                  <a:pt x="0" y="2040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5512565" y="649605"/>
            <a:ext cx="1550641" cy="41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32470" y="662692"/>
            <a:ext cx="2094300" cy="392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Наша Команда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357710" y="489871"/>
            <a:ext cx="1244489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8"/>
              </a:lnSpc>
            </a:pPr>
            <a:r>
              <a:rPr lang="en-US" sz="3413" b="1" dirty="0">
                <a:solidFill>
                  <a:srgbClr val="FFDE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49702" y="7147721"/>
            <a:ext cx="2708748" cy="10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599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Кириченко Даниил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49702" y="7709287"/>
            <a:ext cx="97203" cy="439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99" b="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36822" y="7709287"/>
            <a:ext cx="97203" cy="439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99" b="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22865" y="7147721"/>
            <a:ext cx="2708748" cy="10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599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Борисов </a:t>
            </a:r>
          </a:p>
          <a:p>
            <a:pPr algn="ctr">
              <a:lnSpc>
                <a:spcPts val="4244"/>
              </a:lnSpc>
            </a:pPr>
            <a:r>
              <a:rPr lang="en-US" sz="3599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Игорь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54272" y="7147721"/>
            <a:ext cx="2708748" cy="10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599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Атанов</a:t>
            </a:r>
          </a:p>
          <a:p>
            <a:pPr algn="ctr">
              <a:lnSpc>
                <a:spcPts val="4244"/>
              </a:lnSpc>
            </a:pPr>
            <a:r>
              <a:rPr lang="en-US" sz="3599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Алексей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378" y="464696"/>
            <a:ext cx="3498790" cy="796871"/>
          </a:xfrm>
          <a:custGeom>
            <a:avLst/>
            <a:gdLst/>
            <a:ahLst/>
            <a:cxnLst/>
            <a:rect l="l" t="t" r="r" b="b"/>
            <a:pathLst>
              <a:path w="3498790" h="796871">
                <a:moveTo>
                  <a:pt x="0" y="0"/>
                </a:moveTo>
                <a:lnTo>
                  <a:pt x="3498789" y="0"/>
                </a:lnTo>
                <a:lnTo>
                  <a:pt x="3498789" y="796871"/>
                </a:lnTo>
                <a:lnTo>
                  <a:pt x="0" y="796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4680252" y="528199"/>
            <a:ext cx="3184874" cy="669874"/>
          </a:xfrm>
          <a:custGeom>
            <a:avLst/>
            <a:gdLst/>
            <a:ahLst/>
            <a:cxnLst/>
            <a:rect l="l" t="t" r="r" b="b"/>
            <a:pathLst>
              <a:path w="3184874" h="669874">
                <a:moveTo>
                  <a:pt x="0" y="0"/>
                </a:moveTo>
                <a:lnTo>
                  <a:pt x="3184874" y="0"/>
                </a:lnTo>
                <a:lnTo>
                  <a:pt x="3184874" y="669875"/>
                </a:lnTo>
                <a:lnTo>
                  <a:pt x="0" y="669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Freeform 4"/>
          <p:cNvSpPr/>
          <p:nvPr/>
        </p:nvSpPr>
        <p:spPr>
          <a:xfrm>
            <a:off x="966902" y="3328483"/>
            <a:ext cx="5020675" cy="4640047"/>
          </a:xfrm>
          <a:custGeom>
            <a:avLst/>
            <a:gdLst/>
            <a:ahLst/>
            <a:cxnLst/>
            <a:rect l="l" t="t" r="r" b="b"/>
            <a:pathLst>
              <a:path w="5020675" h="4640047">
                <a:moveTo>
                  <a:pt x="0" y="0"/>
                </a:moveTo>
                <a:lnTo>
                  <a:pt x="5020675" y="0"/>
                </a:lnTo>
                <a:lnTo>
                  <a:pt x="5020675" y="4640046"/>
                </a:lnTo>
                <a:lnTo>
                  <a:pt x="0" y="4640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2165" b="-21974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Freeform 5"/>
          <p:cNvSpPr/>
          <p:nvPr/>
        </p:nvSpPr>
        <p:spPr>
          <a:xfrm>
            <a:off x="966797" y="6339259"/>
            <a:ext cx="5022761" cy="2040255"/>
          </a:xfrm>
          <a:custGeom>
            <a:avLst/>
            <a:gdLst/>
            <a:ahLst/>
            <a:cxnLst/>
            <a:rect l="l" t="t" r="r" b="b"/>
            <a:pathLst>
              <a:path w="5022761" h="2040255">
                <a:moveTo>
                  <a:pt x="0" y="0"/>
                </a:moveTo>
                <a:lnTo>
                  <a:pt x="5022761" y="0"/>
                </a:lnTo>
                <a:lnTo>
                  <a:pt x="5022761" y="2040255"/>
                </a:lnTo>
                <a:lnTo>
                  <a:pt x="0" y="2040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>
            <a:off x="6632610" y="3328483"/>
            <a:ext cx="5020675" cy="4640047"/>
          </a:xfrm>
          <a:custGeom>
            <a:avLst/>
            <a:gdLst/>
            <a:ahLst/>
            <a:cxnLst/>
            <a:rect l="l" t="t" r="r" b="b"/>
            <a:pathLst>
              <a:path w="5020675" h="4640047">
                <a:moveTo>
                  <a:pt x="0" y="0"/>
                </a:moveTo>
                <a:lnTo>
                  <a:pt x="5020675" y="0"/>
                </a:lnTo>
                <a:lnTo>
                  <a:pt x="5020675" y="4640046"/>
                </a:lnTo>
                <a:lnTo>
                  <a:pt x="0" y="46400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446" b="-3584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Freeform 7"/>
          <p:cNvSpPr/>
          <p:nvPr/>
        </p:nvSpPr>
        <p:spPr>
          <a:xfrm>
            <a:off x="6632496" y="6339259"/>
            <a:ext cx="5022761" cy="2040255"/>
          </a:xfrm>
          <a:custGeom>
            <a:avLst/>
            <a:gdLst/>
            <a:ahLst/>
            <a:cxnLst/>
            <a:rect l="l" t="t" r="r" b="b"/>
            <a:pathLst>
              <a:path w="5022761" h="2040255">
                <a:moveTo>
                  <a:pt x="0" y="0"/>
                </a:moveTo>
                <a:lnTo>
                  <a:pt x="5022761" y="0"/>
                </a:lnTo>
                <a:lnTo>
                  <a:pt x="5022761" y="2040255"/>
                </a:lnTo>
                <a:lnTo>
                  <a:pt x="0" y="2040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Freeform 8"/>
          <p:cNvSpPr/>
          <p:nvPr/>
        </p:nvSpPr>
        <p:spPr>
          <a:xfrm>
            <a:off x="1388393" y="695858"/>
            <a:ext cx="340376" cy="340376"/>
          </a:xfrm>
          <a:custGeom>
            <a:avLst/>
            <a:gdLst/>
            <a:ahLst/>
            <a:cxnLst/>
            <a:rect l="l" t="t" r="r" b="b"/>
            <a:pathLst>
              <a:path w="340376" h="340376">
                <a:moveTo>
                  <a:pt x="0" y="0"/>
                </a:moveTo>
                <a:lnTo>
                  <a:pt x="340375" y="0"/>
                </a:lnTo>
                <a:lnTo>
                  <a:pt x="340375" y="340376"/>
                </a:lnTo>
                <a:lnTo>
                  <a:pt x="0" y="3403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9" name="Freeform 9"/>
          <p:cNvSpPr/>
          <p:nvPr/>
        </p:nvSpPr>
        <p:spPr>
          <a:xfrm>
            <a:off x="12302957" y="3328483"/>
            <a:ext cx="4974250" cy="4655287"/>
          </a:xfrm>
          <a:custGeom>
            <a:avLst/>
            <a:gdLst/>
            <a:ahLst/>
            <a:cxnLst/>
            <a:rect l="l" t="t" r="r" b="b"/>
            <a:pathLst>
              <a:path w="4974250" h="4655287">
                <a:moveTo>
                  <a:pt x="0" y="0"/>
                </a:moveTo>
                <a:lnTo>
                  <a:pt x="4974250" y="0"/>
                </a:lnTo>
                <a:lnTo>
                  <a:pt x="4974250" y="4655286"/>
                </a:lnTo>
                <a:lnTo>
                  <a:pt x="0" y="46552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1970" b="-8957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Freeform 10"/>
          <p:cNvSpPr/>
          <p:nvPr/>
        </p:nvSpPr>
        <p:spPr>
          <a:xfrm>
            <a:off x="12298204" y="6339259"/>
            <a:ext cx="5022761" cy="2040255"/>
          </a:xfrm>
          <a:custGeom>
            <a:avLst/>
            <a:gdLst/>
            <a:ahLst/>
            <a:cxnLst/>
            <a:rect l="l" t="t" r="r" b="b"/>
            <a:pathLst>
              <a:path w="5022761" h="2040255">
                <a:moveTo>
                  <a:pt x="0" y="0"/>
                </a:moveTo>
                <a:lnTo>
                  <a:pt x="5022761" y="0"/>
                </a:lnTo>
                <a:lnTo>
                  <a:pt x="5022761" y="2040255"/>
                </a:lnTo>
                <a:lnTo>
                  <a:pt x="0" y="2040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5512565" y="649605"/>
            <a:ext cx="1550641" cy="41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32470" y="662692"/>
            <a:ext cx="2094300" cy="392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Наша Команда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357710" y="489871"/>
            <a:ext cx="1396889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8"/>
              </a:lnSpc>
            </a:pPr>
            <a:r>
              <a:rPr lang="en-US" sz="3413" b="1" dirty="0">
                <a:solidFill>
                  <a:srgbClr val="FFDE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35507" y="7709287"/>
            <a:ext cx="97203" cy="439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99" b="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80107" y="7709287"/>
            <a:ext cx="97203" cy="439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99" b="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29965" y="7258721"/>
            <a:ext cx="3327711" cy="670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R² negative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99698" y="7113747"/>
            <a:ext cx="2708748" cy="10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599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Падукова</a:t>
            </a:r>
          </a:p>
          <a:p>
            <a:pPr algn="ctr">
              <a:lnSpc>
                <a:spcPts val="4244"/>
              </a:lnSpc>
            </a:pPr>
            <a:r>
              <a:rPr lang="en-US" sz="3599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Кристина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35708" y="7113747"/>
            <a:ext cx="2708748" cy="10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599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Шептыкин</a:t>
            </a:r>
          </a:p>
          <a:p>
            <a:pPr algn="ctr">
              <a:lnSpc>
                <a:spcPts val="4244"/>
              </a:lnSpc>
            </a:pPr>
            <a:r>
              <a:rPr lang="en-US" sz="3599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Сергей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340" y="464696"/>
            <a:ext cx="2872454" cy="796871"/>
          </a:xfrm>
          <a:custGeom>
            <a:avLst/>
            <a:gdLst/>
            <a:ahLst/>
            <a:cxnLst/>
            <a:rect l="l" t="t" r="r" b="b"/>
            <a:pathLst>
              <a:path w="2872454" h="796871">
                <a:moveTo>
                  <a:pt x="0" y="0"/>
                </a:moveTo>
                <a:lnTo>
                  <a:pt x="2872454" y="0"/>
                </a:lnTo>
                <a:lnTo>
                  <a:pt x="2872454" y="796871"/>
                </a:lnTo>
                <a:lnTo>
                  <a:pt x="0" y="796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-133093" y="3236243"/>
            <a:ext cx="18573493" cy="1502302"/>
          </a:xfrm>
          <a:custGeom>
            <a:avLst/>
            <a:gdLst/>
            <a:ahLst/>
            <a:cxnLst/>
            <a:rect l="l" t="t" r="r" b="b"/>
            <a:pathLst>
              <a:path w="18421093" h="1502302">
                <a:moveTo>
                  <a:pt x="0" y="0"/>
                </a:moveTo>
                <a:lnTo>
                  <a:pt x="18421093" y="0"/>
                </a:lnTo>
                <a:lnTo>
                  <a:pt x="18421093" y="1502302"/>
                </a:lnTo>
                <a:lnTo>
                  <a:pt x="0" y="15023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Freeform 4"/>
          <p:cNvSpPr/>
          <p:nvPr/>
        </p:nvSpPr>
        <p:spPr>
          <a:xfrm>
            <a:off x="4204002" y="528199"/>
            <a:ext cx="3184874" cy="669874"/>
          </a:xfrm>
          <a:custGeom>
            <a:avLst/>
            <a:gdLst/>
            <a:ahLst/>
            <a:cxnLst/>
            <a:rect l="l" t="t" r="r" b="b"/>
            <a:pathLst>
              <a:path w="3184874" h="669874">
                <a:moveTo>
                  <a:pt x="0" y="0"/>
                </a:moveTo>
                <a:lnTo>
                  <a:pt x="3184874" y="0"/>
                </a:lnTo>
                <a:lnTo>
                  <a:pt x="3184874" y="669875"/>
                </a:lnTo>
                <a:lnTo>
                  <a:pt x="0" y="669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5036315" y="649605"/>
            <a:ext cx="1550641" cy="41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80095" y="670236"/>
            <a:ext cx="1043168" cy="38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Пункты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57710" y="489871"/>
            <a:ext cx="1320689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8"/>
              </a:lnSpc>
            </a:pPr>
            <a:r>
              <a:rPr lang="en-US" sz="3413" b="1" dirty="0">
                <a:solidFill>
                  <a:srgbClr val="FFDE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7154" y="1512303"/>
            <a:ext cx="446880" cy="64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1"/>
              </a:lnSpc>
              <a:spcBef>
                <a:spcPct val="0"/>
              </a:spcBef>
            </a:pPr>
            <a:r>
              <a:rPr lang="en-US" sz="2340" u="none" strike="noStrike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80095" y="1631018"/>
            <a:ext cx="13223403" cy="12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7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НАША КОМАНДА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8064" y="3619090"/>
            <a:ext cx="428692" cy="189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70"/>
              </a:lnSpc>
              <a:spcBef>
                <a:spcPct val="0"/>
              </a:spcBef>
            </a:pPr>
            <a:r>
              <a:rPr lang="en-US" sz="2340" u="none" strike="noStrik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/6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8803" y="4814859"/>
            <a:ext cx="991623" cy="636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2340" dirty="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/12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5823" y="6458293"/>
            <a:ext cx="1034272" cy="636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2340" dirty="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/16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9254" y="8101728"/>
            <a:ext cx="971172" cy="636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2340" dirty="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/19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40427" y="3914365"/>
            <a:ext cx="5448449" cy="603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171717"/>
                </a:solidFill>
                <a:latin typeface="Klein Heavy"/>
                <a:ea typeface="Klein Heavy"/>
                <a:cs typeface="Klein Heavy"/>
                <a:sym typeface="Klein Heavy"/>
              </a:rPr>
              <a:t>ПРОБЛЕМА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40427" y="4957734"/>
            <a:ext cx="7616279" cy="12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НАШЕ РЕШЕНИЕ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80095" y="6637315"/>
            <a:ext cx="13458257" cy="12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СКРИНКАСТ ПРОЕКТА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80094" y="8244602"/>
            <a:ext cx="4115905" cy="1178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ИТОГИ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406" y="464696"/>
            <a:ext cx="3298565" cy="796871"/>
          </a:xfrm>
          <a:custGeom>
            <a:avLst/>
            <a:gdLst/>
            <a:ahLst/>
            <a:cxnLst/>
            <a:rect l="l" t="t" r="r" b="b"/>
            <a:pathLst>
              <a:path w="3298565" h="796871">
                <a:moveTo>
                  <a:pt x="0" y="0"/>
                </a:moveTo>
                <a:lnTo>
                  <a:pt x="3298565" y="0"/>
                </a:lnTo>
                <a:lnTo>
                  <a:pt x="3298565" y="796871"/>
                </a:lnTo>
                <a:lnTo>
                  <a:pt x="0" y="796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4394502" y="528199"/>
            <a:ext cx="3184874" cy="669874"/>
          </a:xfrm>
          <a:custGeom>
            <a:avLst/>
            <a:gdLst/>
            <a:ahLst/>
            <a:cxnLst/>
            <a:rect l="l" t="t" r="r" b="b"/>
            <a:pathLst>
              <a:path w="3184874" h="669874">
                <a:moveTo>
                  <a:pt x="0" y="0"/>
                </a:moveTo>
                <a:lnTo>
                  <a:pt x="3184874" y="0"/>
                </a:lnTo>
                <a:lnTo>
                  <a:pt x="3184874" y="669875"/>
                </a:lnTo>
                <a:lnTo>
                  <a:pt x="0" y="669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TextBox 4"/>
          <p:cNvSpPr txBox="1"/>
          <p:nvPr/>
        </p:nvSpPr>
        <p:spPr>
          <a:xfrm>
            <a:off x="5226815" y="649605"/>
            <a:ext cx="1550641" cy="375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dirty="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ru-RU" sz="2199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99" dirty="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negative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80095" y="489261"/>
            <a:ext cx="1424407" cy="565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4"/>
              </a:lnSpc>
            </a:pPr>
            <a:r>
              <a:rPr lang="en-US" sz="2199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Проблема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11191" y="481717"/>
            <a:ext cx="179518" cy="57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4"/>
              </a:lnSpc>
            </a:pPr>
            <a:r>
              <a:rPr lang="en-US" sz="21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²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57711" y="204121"/>
            <a:ext cx="1414942" cy="854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03"/>
              </a:lnSpc>
            </a:pPr>
            <a:r>
              <a:rPr lang="en-US" sz="3413" b="1">
                <a:solidFill>
                  <a:srgbClr val="FFDE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5406" y="495300"/>
            <a:ext cx="16676716" cy="3979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77"/>
              </a:lnSpc>
            </a:pPr>
            <a:r>
              <a:rPr lang="en-US" sz="11199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РЕАЛЬНАЯ ПРОБЛЕМА</a:t>
            </a:r>
          </a:p>
          <a:p>
            <a:pPr algn="just">
              <a:lnSpc>
                <a:spcPts val="2808"/>
              </a:lnSpc>
            </a:pPr>
            <a:r>
              <a:rPr lang="en-US" sz="2799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13196" y="3395034"/>
            <a:ext cx="541460" cy="64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234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5069" y="5461729"/>
            <a:ext cx="7447599" cy="1657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98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По данным ФАО, до 20-40% урожая в мире теряется из-за неэффективного управления ресурсами. Это миллиарды долларов, которые фермеры буквально закапывают в землю, не зная, где именно нужны удобрения и вода.</a:t>
            </a:r>
          </a:p>
          <a:p>
            <a:pPr algn="l">
              <a:lnSpc>
                <a:spcPts val="2329"/>
              </a:lnSpc>
            </a:pPr>
            <a:endParaRPr lang="en-US" sz="1898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4356439"/>
            <a:ext cx="3596888" cy="126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Слепые инвестиции</a:t>
            </a:r>
          </a:p>
          <a:p>
            <a:pPr algn="l">
              <a:lnSpc>
                <a:spcPts val="3300"/>
              </a:lnSpc>
            </a:pPr>
            <a:endParaRPr lang="en-US" sz="2799" b="1">
              <a:solidFill>
                <a:srgbClr val="FFFFFF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13196" y="5461729"/>
            <a:ext cx="8164011" cy="67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98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Существующие сервисы дают фермеру сложную NDVI-карту и говорят: "Думай сам". Это не помощь, это еще одна проблема.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4244587"/>
            <a:ext cx="7024845" cy="845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Данные бесполезны без интерпретации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5069" y="3404397"/>
            <a:ext cx="637938" cy="64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1"/>
              </a:lnSpc>
              <a:spcBef>
                <a:spcPct val="0"/>
              </a:spcBef>
            </a:pPr>
            <a:r>
              <a:rPr lang="en-US" sz="2340" u="none" strike="noStrike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8601943"/>
            <a:ext cx="9178306" cy="971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1898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Агроном не может телепортироваться. </a:t>
            </a:r>
          </a:p>
          <a:p>
            <a:pPr algn="l">
              <a:lnSpc>
                <a:spcPts val="2766"/>
              </a:lnSpc>
            </a:pPr>
            <a:r>
              <a:rPr lang="en-US" sz="1898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Пока он доедет до проблемного участка, урожай уже потерян.</a:t>
            </a:r>
          </a:p>
          <a:p>
            <a:pPr algn="l">
              <a:lnSpc>
                <a:spcPts val="2329"/>
              </a:lnSpc>
            </a:pPr>
            <a:endParaRPr lang="en-US" sz="1898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7933341"/>
            <a:ext cx="8397992" cy="42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Старые методы не работают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5069" y="7033426"/>
            <a:ext cx="810475" cy="64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1"/>
              </a:lnSpc>
              <a:spcBef>
                <a:spcPct val="0"/>
              </a:spcBef>
            </a:pPr>
            <a:r>
              <a:rPr lang="en-US" sz="2340" u="none" strike="noStrike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340" y="464696"/>
            <a:ext cx="2872454" cy="796871"/>
          </a:xfrm>
          <a:custGeom>
            <a:avLst/>
            <a:gdLst/>
            <a:ahLst/>
            <a:cxnLst/>
            <a:rect l="l" t="t" r="r" b="b"/>
            <a:pathLst>
              <a:path w="2872454" h="796871">
                <a:moveTo>
                  <a:pt x="0" y="0"/>
                </a:moveTo>
                <a:lnTo>
                  <a:pt x="2872454" y="0"/>
                </a:lnTo>
                <a:lnTo>
                  <a:pt x="2872454" y="796871"/>
                </a:lnTo>
                <a:lnTo>
                  <a:pt x="0" y="796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-133093" y="4879667"/>
            <a:ext cx="18649693" cy="1502302"/>
          </a:xfrm>
          <a:custGeom>
            <a:avLst/>
            <a:gdLst/>
            <a:ahLst/>
            <a:cxnLst/>
            <a:rect l="l" t="t" r="r" b="b"/>
            <a:pathLst>
              <a:path w="18421093" h="1502302">
                <a:moveTo>
                  <a:pt x="0" y="0"/>
                </a:moveTo>
                <a:lnTo>
                  <a:pt x="18421093" y="0"/>
                </a:lnTo>
                <a:lnTo>
                  <a:pt x="18421093" y="1502302"/>
                </a:lnTo>
                <a:lnTo>
                  <a:pt x="0" y="15023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Freeform 4"/>
          <p:cNvSpPr/>
          <p:nvPr/>
        </p:nvSpPr>
        <p:spPr>
          <a:xfrm>
            <a:off x="4204002" y="528199"/>
            <a:ext cx="3184874" cy="669874"/>
          </a:xfrm>
          <a:custGeom>
            <a:avLst/>
            <a:gdLst/>
            <a:ahLst/>
            <a:cxnLst/>
            <a:rect l="l" t="t" r="r" b="b"/>
            <a:pathLst>
              <a:path w="3184874" h="669874">
                <a:moveTo>
                  <a:pt x="0" y="0"/>
                </a:moveTo>
                <a:lnTo>
                  <a:pt x="3184874" y="0"/>
                </a:lnTo>
                <a:lnTo>
                  <a:pt x="3184874" y="669875"/>
                </a:lnTo>
                <a:lnTo>
                  <a:pt x="0" y="669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5036315" y="649605"/>
            <a:ext cx="1550641" cy="41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80095" y="670236"/>
            <a:ext cx="1043168" cy="38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Пункты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57710" y="489871"/>
            <a:ext cx="1168289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8"/>
              </a:lnSpc>
            </a:pPr>
            <a:r>
              <a:rPr lang="en-US" sz="3413" b="1" dirty="0">
                <a:solidFill>
                  <a:srgbClr val="FFDE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7154" y="1512303"/>
            <a:ext cx="446880" cy="64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1"/>
              </a:lnSpc>
              <a:spcBef>
                <a:spcPct val="0"/>
              </a:spcBef>
            </a:pPr>
            <a:r>
              <a:rPr lang="en-US" sz="2340" u="none" strike="noStrike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80095" y="1631018"/>
            <a:ext cx="13223403" cy="12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7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НАША КОМАНДА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8064" y="3171415"/>
            <a:ext cx="428692" cy="64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1"/>
              </a:lnSpc>
              <a:spcBef>
                <a:spcPct val="0"/>
              </a:spcBef>
            </a:pPr>
            <a:r>
              <a:rPr lang="en-US" sz="2340" u="none" strike="noStrike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8804" y="5262534"/>
            <a:ext cx="575229" cy="189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70"/>
              </a:lnSpc>
              <a:spcBef>
                <a:spcPct val="0"/>
              </a:spcBef>
            </a:pPr>
            <a:r>
              <a:rPr lang="en-US" sz="2340" u="none" strike="noStrike" dirty="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/12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5822" y="6458293"/>
            <a:ext cx="1340177" cy="636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234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/16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9254" y="8101727"/>
            <a:ext cx="1697746" cy="636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2340" dirty="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/19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40427" y="3314290"/>
            <a:ext cx="5448449" cy="12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7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ПРОБЛЕМА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40427" y="5557809"/>
            <a:ext cx="7616279" cy="603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171717"/>
                </a:solidFill>
                <a:latin typeface="Klein Heavy"/>
                <a:ea typeface="Klein Heavy"/>
                <a:cs typeface="Klein Heavy"/>
                <a:sym typeface="Klein Heavy"/>
              </a:rPr>
              <a:t>НАШЕ РЕШЕНИЕ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80095" y="6637315"/>
            <a:ext cx="13458257" cy="12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СКРИНКАСТ ПРОЕКТА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80094" y="8244602"/>
            <a:ext cx="5106505" cy="1178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ИТОГИ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8414997" cy="1672828"/>
          </a:xfrm>
          <a:custGeom>
            <a:avLst/>
            <a:gdLst/>
            <a:ahLst/>
            <a:cxnLst/>
            <a:rect l="l" t="t" r="r" b="b"/>
            <a:pathLst>
              <a:path w="18414997" h="1672828">
                <a:moveTo>
                  <a:pt x="0" y="0"/>
                </a:moveTo>
                <a:lnTo>
                  <a:pt x="18414997" y="0"/>
                </a:lnTo>
                <a:lnTo>
                  <a:pt x="18414997" y="1672828"/>
                </a:lnTo>
                <a:lnTo>
                  <a:pt x="0" y="16728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965368" y="464696"/>
            <a:ext cx="2867920" cy="796871"/>
          </a:xfrm>
          <a:custGeom>
            <a:avLst/>
            <a:gdLst/>
            <a:ahLst/>
            <a:cxnLst/>
            <a:rect l="l" t="t" r="r" b="b"/>
            <a:pathLst>
              <a:path w="2867920" h="796871">
                <a:moveTo>
                  <a:pt x="0" y="0"/>
                </a:moveTo>
                <a:lnTo>
                  <a:pt x="2867921" y="0"/>
                </a:lnTo>
                <a:lnTo>
                  <a:pt x="2867921" y="796871"/>
                </a:lnTo>
                <a:lnTo>
                  <a:pt x="0" y="796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4" name="Group 4"/>
          <p:cNvGrpSpPr/>
          <p:nvPr/>
        </p:nvGrpSpPr>
        <p:grpSpPr>
          <a:xfrm>
            <a:off x="2820522" y="4467166"/>
            <a:ext cx="12646946" cy="990208"/>
            <a:chOff x="0" y="0"/>
            <a:chExt cx="16862595" cy="13202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20277" cy="1320277"/>
            </a:xfrm>
            <a:custGeom>
              <a:avLst/>
              <a:gdLst/>
              <a:ahLst/>
              <a:cxnLst/>
              <a:rect l="l" t="t" r="r" b="b"/>
              <a:pathLst>
                <a:path w="1320277" h="1320277">
                  <a:moveTo>
                    <a:pt x="0" y="0"/>
                  </a:moveTo>
                  <a:lnTo>
                    <a:pt x="1320277" y="0"/>
                  </a:lnTo>
                  <a:lnTo>
                    <a:pt x="1320277" y="1320277"/>
                  </a:lnTo>
                  <a:lnTo>
                    <a:pt x="0" y="1320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6" name="Freeform 6"/>
            <p:cNvSpPr/>
            <p:nvPr/>
          </p:nvSpPr>
          <p:spPr>
            <a:xfrm>
              <a:off x="7771877" y="0"/>
              <a:ext cx="1320277" cy="1320277"/>
            </a:xfrm>
            <a:custGeom>
              <a:avLst/>
              <a:gdLst/>
              <a:ahLst/>
              <a:cxnLst/>
              <a:rect l="l" t="t" r="r" b="b"/>
              <a:pathLst>
                <a:path w="1320277" h="1320277">
                  <a:moveTo>
                    <a:pt x="0" y="0"/>
                  </a:moveTo>
                  <a:lnTo>
                    <a:pt x="1320277" y="0"/>
                  </a:lnTo>
                  <a:lnTo>
                    <a:pt x="1320277" y="1320277"/>
                  </a:lnTo>
                  <a:lnTo>
                    <a:pt x="0" y="1320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542318" y="0"/>
              <a:ext cx="1320277" cy="1320277"/>
            </a:xfrm>
            <a:custGeom>
              <a:avLst/>
              <a:gdLst/>
              <a:ahLst/>
              <a:cxnLst/>
              <a:rect l="l" t="t" r="r" b="b"/>
              <a:pathLst>
                <a:path w="1320277" h="1320277">
                  <a:moveTo>
                    <a:pt x="0" y="0"/>
                  </a:moveTo>
                  <a:lnTo>
                    <a:pt x="1320277" y="0"/>
                  </a:lnTo>
                  <a:lnTo>
                    <a:pt x="1320277" y="1320277"/>
                  </a:lnTo>
                  <a:lnTo>
                    <a:pt x="0" y="1320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2354" y="7016305"/>
            <a:ext cx="4311753" cy="2615684"/>
            <a:chOff x="0" y="0"/>
            <a:chExt cx="1135606" cy="6889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5606" cy="688905"/>
            </a:xfrm>
            <a:custGeom>
              <a:avLst/>
              <a:gdLst/>
              <a:ahLst/>
              <a:cxnLst/>
              <a:rect l="l" t="t" r="r" b="b"/>
              <a:pathLst>
                <a:path w="1135606" h="688905">
                  <a:moveTo>
                    <a:pt x="91572" y="0"/>
                  </a:moveTo>
                  <a:lnTo>
                    <a:pt x="1044033" y="0"/>
                  </a:lnTo>
                  <a:cubicBezTo>
                    <a:pt x="1068320" y="0"/>
                    <a:pt x="1091611" y="9648"/>
                    <a:pt x="1108785" y="26821"/>
                  </a:cubicBezTo>
                  <a:cubicBezTo>
                    <a:pt x="1125958" y="43994"/>
                    <a:pt x="1135606" y="67286"/>
                    <a:pt x="1135606" y="91572"/>
                  </a:cubicBezTo>
                  <a:lnTo>
                    <a:pt x="1135606" y="597332"/>
                  </a:lnTo>
                  <a:cubicBezTo>
                    <a:pt x="1135606" y="621619"/>
                    <a:pt x="1125958" y="644910"/>
                    <a:pt x="1108785" y="662084"/>
                  </a:cubicBezTo>
                  <a:cubicBezTo>
                    <a:pt x="1091611" y="679257"/>
                    <a:pt x="1068320" y="688905"/>
                    <a:pt x="1044033" y="688905"/>
                  </a:cubicBezTo>
                  <a:lnTo>
                    <a:pt x="91572" y="688905"/>
                  </a:lnTo>
                  <a:cubicBezTo>
                    <a:pt x="67286" y="688905"/>
                    <a:pt x="43994" y="679257"/>
                    <a:pt x="26821" y="662084"/>
                  </a:cubicBezTo>
                  <a:cubicBezTo>
                    <a:pt x="9648" y="644910"/>
                    <a:pt x="0" y="621619"/>
                    <a:pt x="0" y="597332"/>
                  </a:cubicBezTo>
                  <a:lnTo>
                    <a:pt x="0" y="91572"/>
                  </a:lnTo>
                  <a:cubicBezTo>
                    <a:pt x="0" y="67286"/>
                    <a:pt x="9648" y="43994"/>
                    <a:pt x="26821" y="26821"/>
                  </a:cubicBezTo>
                  <a:cubicBezTo>
                    <a:pt x="43994" y="9648"/>
                    <a:pt x="67286" y="0"/>
                    <a:pt x="91572" y="0"/>
                  </a:cubicBezTo>
                  <a:close/>
                </a:path>
              </a:pathLst>
            </a:custGeom>
            <a:solidFill>
              <a:srgbClr val="292929"/>
            </a:solidFill>
            <a:ln w="47625" cap="rnd">
              <a:gradFill>
                <a:gsLst>
                  <a:gs pos="0">
                    <a:srgbClr val="FFDE59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0"/>
              <a:ext cx="1135606" cy="974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5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845815" y="649605"/>
            <a:ext cx="1550641" cy="41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0095" y="670236"/>
            <a:ext cx="1275102" cy="38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Решение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2354" y="1915557"/>
            <a:ext cx="16194853" cy="2706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4"/>
              </a:lnSpc>
            </a:pPr>
            <a:r>
              <a:rPr lang="en-US" sz="5195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Наш Продукт: От Выбора Поля до Готового Решения за 3 Шага</a:t>
            </a:r>
          </a:p>
          <a:p>
            <a:pPr algn="l">
              <a:lnSpc>
                <a:spcPts val="7274"/>
              </a:lnSpc>
            </a:pPr>
            <a:endParaRPr lang="en-US" sz="5195" b="1">
              <a:solidFill>
                <a:srgbClr val="FFFFFF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357710" y="489870"/>
            <a:ext cx="1320689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8"/>
              </a:lnSpc>
            </a:pPr>
            <a:r>
              <a:rPr lang="en-US" sz="3413" b="1" dirty="0">
                <a:solidFill>
                  <a:srgbClr val="FFDE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4040" y="5661647"/>
            <a:ext cx="3082315" cy="888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7"/>
              </a:lnSpc>
            </a:pPr>
            <a:r>
              <a:rPr lang="en-US" sz="251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Выберите поле.</a:t>
            </a:r>
          </a:p>
          <a:p>
            <a:pPr algn="ctr">
              <a:lnSpc>
                <a:spcPts val="3527"/>
              </a:lnSpc>
            </a:pPr>
            <a:r>
              <a:rPr lang="en-US" sz="251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Где угодно.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65782" y="5661647"/>
            <a:ext cx="3627998" cy="133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7"/>
              </a:lnSpc>
            </a:pPr>
            <a:r>
              <a:rPr lang="en-US" sz="251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Получите анализ. Мгновенно.</a:t>
            </a:r>
          </a:p>
          <a:p>
            <a:pPr algn="ctr">
              <a:lnSpc>
                <a:spcPts val="3527"/>
              </a:lnSpc>
            </a:pPr>
            <a:endParaRPr lang="en-US" sz="251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967924" y="5661647"/>
            <a:ext cx="3849535" cy="133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7"/>
              </a:lnSpc>
            </a:pPr>
            <a:r>
              <a:rPr lang="en-US" sz="251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Примите решение с помощью AI.</a:t>
            </a:r>
          </a:p>
          <a:p>
            <a:pPr algn="ctr">
              <a:lnSpc>
                <a:spcPts val="3527"/>
              </a:lnSpc>
            </a:pPr>
            <a:endParaRPr lang="en-US" sz="251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6988119" y="7099527"/>
            <a:ext cx="4311753" cy="2615684"/>
            <a:chOff x="0" y="0"/>
            <a:chExt cx="1135606" cy="6889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5606" cy="688905"/>
            </a:xfrm>
            <a:custGeom>
              <a:avLst/>
              <a:gdLst/>
              <a:ahLst/>
              <a:cxnLst/>
              <a:rect l="l" t="t" r="r" b="b"/>
              <a:pathLst>
                <a:path w="1135606" h="688905">
                  <a:moveTo>
                    <a:pt x="91572" y="0"/>
                  </a:moveTo>
                  <a:lnTo>
                    <a:pt x="1044033" y="0"/>
                  </a:lnTo>
                  <a:cubicBezTo>
                    <a:pt x="1068320" y="0"/>
                    <a:pt x="1091611" y="9648"/>
                    <a:pt x="1108785" y="26821"/>
                  </a:cubicBezTo>
                  <a:cubicBezTo>
                    <a:pt x="1125958" y="43994"/>
                    <a:pt x="1135606" y="67286"/>
                    <a:pt x="1135606" y="91572"/>
                  </a:cubicBezTo>
                  <a:lnTo>
                    <a:pt x="1135606" y="597332"/>
                  </a:lnTo>
                  <a:cubicBezTo>
                    <a:pt x="1135606" y="621619"/>
                    <a:pt x="1125958" y="644910"/>
                    <a:pt x="1108785" y="662084"/>
                  </a:cubicBezTo>
                  <a:cubicBezTo>
                    <a:pt x="1091611" y="679257"/>
                    <a:pt x="1068320" y="688905"/>
                    <a:pt x="1044033" y="688905"/>
                  </a:cubicBezTo>
                  <a:lnTo>
                    <a:pt x="91572" y="688905"/>
                  </a:lnTo>
                  <a:cubicBezTo>
                    <a:pt x="67286" y="688905"/>
                    <a:pt x="43994" y="679257"/>
                    <a:pt x="26821" y="662084"/>
                  </a:cubicBezTo>
                  <a:cubicBezTo>
                    <a:pt x="9648" y="644910"/>
                    <a:pt x="0" y="621619"/>
                    <a:pt x="0" y="597332"/>
                  </a:cubicBezTo>
                  <a:lnTo>
                    <a:pt x="0" y="91572"/>
                  </a:lnTo>
                  <a:cubicBezTo>
                    <a:pt x="0" y="67286"/>
                    <a:pt x="9648" y="43994"/>
                    <a:pt x="26821" y="26821"/>
                  </a:cubicBezTo>
                  <a:cubicBezTo>
                    <a:pt x="43994" y="9648"/>
                    <a:pt x="67286" y="0"/>
                    <a:pt x="91572" y="0"/>
                  </a:cubicBezTo>
                  <a:close/>
                </a:path>
              </a:pathLst>
            </a:custGeom>
            <a:solidFill>
              <a:srgbClr val="292929"/>
            </a:solidFill>
            <a:ln w="47625" cap="rnd">
              <a:gradFill>
                <a:gsLst>
                  <a:gs pos="0">
                    <a:srgbClr val="FFDE59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0"/>
              <a:ext cx="1135606" cy="974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5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736815" y="7099527"/>
            <a:ext cx="4311753" cy="2615684"/>
            <a:chOff x="0" y="0"/>
            <a:chExt cx="1135606" cy="6889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35606" cy="688905"/>
            </a:xfrm>
            <a:custGeom>
              <a:avLst/>
              <a:gdLst/>
              <a:ahLst/>
              <a:cxnLst/>
              <a:rect l="l" t="t" r="r" b="b"/>
              <a:pathLst>
                <a:path w="1135606" h="688905">
                  <a:moveTo>
                    <a:pt x="91572" y="0"/>
                  </a:moveTo>
                  <a:lnTo>
                    <a:pt x="1044033" y="0"/>
                  </a:lnTo>
                  <a:cubicBezTo>
                    <a:pt x="1068320" y="0"/>
                    <a:pt x="1091611" y="9648"/>
                    <a:pt x="1108785" y="26821"/>
                  </a:cubicBezTo>
                  <a:cubicBezTo>
                    <a:pt x="1125958" y="43994"/>
                    <a:pt x="1135606" y="67286"/>
                    <a:pt x="1135606" y="91572"/>
                  </a:cubicBezTo>
                  <a:lnTo>
                    <a:pt x="1135606" y="597332"/>
                  </a:lnTo>
                  <a:cubicBezTo>
                    <a:pt x="1135606" y="621619"/>
                    <a:pt x="1125958" y="644910"/>
                    <a:pt x="1108785" y="662084"/>
                  </a:cubicBezTo>
                  <a:cubicBezTo>
                    <a:pt x="1091611" y="679257"/>
                    <a:pt x="1068320" y="688905"/>
                    <a:pt x="1044033" y="688905"/>
                  </a:cubicBezTo>
                  <a:lnTo>
                    <a:pt x="91572" y="688905"/>
                  </a:lnTo>
                  <a:cubicBezTo>
                    <a:pt x="67286" y="688905"/>
                    <a:pt x="43994" y="679257"/>
                    <a:pt x="26821" y="662084"/>
                  </a:cubicBezTo>
                  <a:cubicBezTo>
                    <a:pt x="9648" y="644910"/>
                    <a:pt x="0" y="621619"/>
                    <a:pt x="0" y="597332"/>
                  </a:cubicBezTo>
                  <a:lnTo>
                    <a:pt x="0" y="91572"/>
                  </a:lnTo>
                  <a:cubicBezTo>
                    <a:pt x="0" y="67286"/>
                    <a:pt x="9648" y="43994"/>
                    <a:pt x="26821" y="26821"/>
                  </a:cubicBezTo>
                  <a:cubicBezTo>
                    <a:pt x="43994" y="9648"/>
                    <a:pt x="67286" y="0"/>
                    <a:pt x="91572" y="0"/>
                  </a:cubicBezTo>
                  <a:close/>
                </a:path>
              </a:pathLst>
            </a:custGeom>
            <a:solidFill>
              <a:srgbClr val="292929"/>
            </a:solidFill>
            <a:ln w="47625" cap="rnd">
              <a:gradFill>
                <a:gsLst>
                  <a:gs pos="0">
                    <a:srgbClr val="FFDE59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0"/>
              <a:ext cx="1135606" cy="974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51"/>
                </a:lnSpc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>
            <a:off x="3833289" y="4962270"/>
            <a:ext cx="4812687" cy="0"/>
          </a:xfrm>
          <a:prstGeom prst="line">
            <a:avLst/>
          </a:prstGeom>
          <a:ln w="38100" cap="flat">
            <a:gradFill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ru-RU"/>
          </a:p>
        </p:txBody>
      </p:sp>
      <p:sp>
        <p:nvSpPr>
          <p:cNvPr id="25" name="AutoShape 25"/>
          <p:cNvSpPr/>
          <p:nvPr/>
        </p:nvSpPr>
        <p:spPr>
          <a:xfrm flipV="1">
            <a:off x="9640583" y="4962270"/>
            <a:ext cx="4852930" cy="0"/>
          </a:xfrm>
          <a:prstGeom prst="line">
            <a:avLst/>
          </a:prstGeom>
          <a:ln w="38100" cap="flat">
            <a:gradFill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Box 26"/>
          <p:cNvSpPr txBox="1"/>
          <p:nvPr/>
        </p:nvSpPr>
        <p:spPr>
          <a:xfrm>
            <a:off x="1213928" y="7284395"/>
            <a:ext cx="4082539" cy="219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Фича</a:t>
            </a:r>
            <a:r>
              <a:rPr lang="en-US" sz="1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: Интерактивная карта и выделение любой зоны мира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endParaRPr lang="en-US" sz="160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Технология</a:t>
            </a:r>
            <a:r>
              <a:rPr lang="en-US" sz="1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: Frontend на Leaflet.js и Backend, подключенный напрямую к Sentinel Hub API для получения самых свежих снимков.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endParaRPr lang="en-US" sz="160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325830" y="7283566"/>
            <a:ext cx="3707901" cy="275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Фича: </a:t>
            </a:r>
            <a:r>
              <a:rPr lang="en-US" sz="1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Точный расчет NDVI и интерактивный дашборд со всей статистикой.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Технология: </a:t>
            </a:r>
            <a:r>
              <a:rPr lang="en-US" sz="1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Высокопроизводительное ядро анализа на Rasterio/GDAL для попиксельной обработки.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851422" y="7498583"/>
            <a:ext cx="4082539" cy="205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Фича:</a:t>
            </a:r>
            <a:r>
              <a:rPr lang="en-US" sz="17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Наш AI-Ассистент и AI-Чат.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endParaRPr lang="en-US" sz="170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Технология: </a:t>
            </a:r>
            <a:r>
              <a:rPr lang="en-US" sz="17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LLM-модель, которая анализирует данные и генерирует готовые рекомендации и ответы на вопросы.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endParaRPr lang="en-US" sz="170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1028700" y="735111"/>
            <a:ext cx="9970332" cy="2974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199">
                <a:solidFill>
                  <a:srgbClr val="171717"/>
                </a:solidFill>
                <a:latin typeface="Noto Sans"/>
                <a:ea typeface="Noto Sans"/>
                <a:cs typeface="Noto Sans"/>
                <a:sym typeface="Noto Sans"/>
              </a:rPr>
              <a:t>                </a:t>
            </a:r>
          </a:p>
          <a:p>
            <a:pPr algn="l">
              <a:lnSpc>
                <a:spcPts val="12968"/>
              </a:lnSpc>
            </a:pPr>
            <a:r>
              <a:rPr lang="en-US" sz="8151" b="1">
                <a:solidFill>
                  <a:srgbClr val="292929"/>
                </a:solidFill>
                <a:latin typeface="Klein Heavy"/>
                <a:ea typeface="Klein Heavy"/>
                <a:cs typeface="Klein Heavy"/>
                <a:sym typeface="Klein Heavy"/>
              </a:rPr>
              <a:t>НАШИ</a:t>
            </a:r>
          </a:p>
          <a:p>
            <a:pPr algn="l">
              <a:lnSpc>
                <a:spcPts val="4075"/>
              </a:lnSpc>
            </a:pPr>
            <a:r>
              <a:rPr lang="en-US" sz="8151" b="1">
                <a:solidFill>
                  <a:srgbClr val="292929"/>
                </a:solidFill>
                <a:latin typeface="Klein Heavy"/>
                <a:ea typeface="Klein Heavy"/>
                <a:cs typeface="Klein Heavy"/>
                <a:sym typeface="Klein Heavy"/>
              </a:rPr>
              <a:t>ПРИЕМУЩЕСТВА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22040" y="611505"/>
            <a:ext cx="1550641" cy="45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199">
                <a:solidFill>
                  <a:srgbClr val="171717"/>
                </a:solidFill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57710" y="489871"/>
            <a:ext cx="1396889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8"/>
              </a:lnSpc>
            </a:pPr>
            <a:r>
              <a:rPr lang="en-US" sz="3413" b="1" dirty="0">
                <a:solidFill>
                  <a:srgbClr val="171717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53188" y="7820378"/>
            <a:ext cx="3768852" cy="158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40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Сохраняйте участки,</a:t>
            </a:r>
            <a:r>
              <a:rPr lang="en-US" sz="2140">
                <a:solidFill>
                  <a:srgbClr val="EDEDED"/>
                </a:solidFill>
                <a:latin typeface="Noto Sans"/>
                <a:ea typeface="Noto Sans"/>
                <a:cs typeface="Noto Sans"/>
                <a:sym typeface="Noto Sans"/>
              </a:rPr>
              <a:t> чтобы анализировать их в один клик.</a:t>
            </a:r>
          </a:p>
          <a:p>
            <a:pPr algn="l">
              <a:lnSpc>
                <a:spcPts val="3150"/>
              </a:lnSpc>
            </a:pPr>
            <a:endParaRPr lang="en-US" sz="2140">
              <a:solidFill>
                <a:srgbClr val="EDEDE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53188" y="6079009"/>
            <a:ext cx="3985797" cy="1408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5"/>
              </a:lnSpc>
            </a:pPr>
            <a:r>
              <a:rPr lang="en-US" sz="3151" b="1">
                <a:solidFill>
                  <a:srgbClr val="EDEDE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ВАШИ ПОЛЯ ВСЕГДА ПОД РУКОЙ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48474" y="6088320"/>
            <a:ext cx="3398406" cy="1408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5"/>
              </a:lnSpc>
            </a:pPr>
            <a:r>
              <a:rPr lang="en-US" sz="3151" b="1">
                <a:solidFill>
                  <a:srgbClr val="EDEDE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ВСЯ ИСТОРИЯ РЕШЕНИЙ</a:t>
            </a:r>
          </a:p>
          <a:p>
            <a:pPr algn="l">
              <a:lnSpc>
                <a:spcPts val="3715"/>
              </a:lnSpc>
            </a:pPr>
            <a:endParaRPr lang="en-US" sz="3151" b="1">
              <a:solidFill>
                <a:srgbClr val="EDEDED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469657" y="7070541"/>
            <a:ext cx="53321" cy="40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1470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53371" y="6045190"/>
            <a:ext cx="3530523" cy="149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1"/>
              </a:lnSpc>
            </a:pPr>
            <a:r>
              <a:rPr lang="en-US" sz="3351" b="1">
                <a:solidFill>
                  <a:srgbClr val="EDEDE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ПЕРСОНАЛЬНО И БЕЗОПАСНО</a:t>
            </a:r>
          </a:p>
          <a:p>
            <a:pPr algn="l">
              <a:lnSpc>
                <a:spcPts val="3951"/>
              </a:lnSpc>
            </a:pPr>
            <a:endParaRPr lang="en-US" sz="3351" b="1">
              <a:solidFill>
                <a:srgbClr val="EDEDED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468579" y="7070541"/>
            <a:ext cx="53321" cy="40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1470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18904" y="4910395"/>
            <a:ext cx="477517" cy="57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1"/>
              </a:lnSpc>
            </a:pPr>
            <a:r>
              <a:rPr lang="en-US" sz="3351" b="1">
                <a:solidFill>
                  <a:srgbClr val="17171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20895" y="4910395"/>
            <a:ext cx="547959" cy="57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1"/>
              </a:lnSpc>
            </a:pPr>
            <a:r>
              <a:rPr lang="en-US" sz="3351" b="1">
                <a:solidFill>
                  <a:srgbClr val="17171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19087" y="4910395"/>
            <a:ext cx="600226" cy="57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1"/>
              </a:lnSpc>
            </a:pPr>
            <a:r>
              <a:rPr lang="en-US" sz="3351" b="1">
                <a:solidFill>
                  <a:srgbClr val="17171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33913" y="611505"/>
            <a:ext cx="1003702" cy="40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199">
                <a:solidFill>
                  <a:srgbClr val="171717"/>
                </a:solidFill>
                <a:latin typeface="Open Sauce"/>
                <a:ea typeface="Open Sauce"/>
                <a:cs typeface="Open Sauce"/>
                <a:sym typeface="Open Sauce"/>
              </a:rPr>
              <a:t>Фишки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48474" y="7420118"/>
            <a:ext cx="3768852" cy="158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40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Сравнивайте снимки </a:t>
            </a:r>
            <a:r>
              <a:rPr lang="en-US" sz="21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за разные даты и оценивайте результат своих действий.</a:t>
            </a:r>
          </a:p>
          <a:p>
            <a:pPr algn="l">
              <a:lnSpc>
                <a:spcPts val="3150"/>
              </a:lnSpc>
            </a:pPr>
            <a:endParaRPr lang="en-US" sz="214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953371" y="7420118"/>
            <a:ext cx="3768852" cy="158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Ваши данные принадлежат </a:t>
            </a:r>
            <a:r>
              <a:rPr lang="en-US" sz="2140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только вам </a:t>
            </a:r>
            <a:r>
              <a:rPr lang="en-US" sz="21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благодаря личному профилю.</a:t>
            </a:r>
          </a:p>
          <a:p>
            <a:pPr algn="l">
              <a:lnSpc>
                <a:spcPts val="3150"/>
              </a:lnSpc>
            </a:pPr>
            <a:endParaRPr lang="en-US" sz="214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1028700" y="735111"/>
            <a:ext cx="9970332" cy="2974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199">
                <a:solidFill>
                  <a:srgbClr val="171717"/>
                </a:solidFill>
                <a:latin typeface="Noto Sans"/>
                <a:ea typeface="Noto Sans"/>
                <a:cs typeface="Noto Sans"/>
                <a:sym typeface="Noto Sans"/>
              </a:rPr>
              <a:t>                </a:t>
            </a:r>
          </a:p>
          <a:p>
            <a:pPr algn="l">
              <a:lnSpc>
                <a:spcPts val="12968"/>
              </a:lnSpc>
            </a:pPr>
            <a:r>
              <a:rPr lang="en-US" sz="8151" b="1">
                <a:solidFill>
                  <a:srgbClr val="292929"/>
                </a:solidFill>
                <a:latin typeface="Klein Heavy"/>
                <a:ea typeface="Klein Heavy"/>
                <a:cs typeface="Klein Heavy"/>
                <a:sym typeface="Klein Heavy"/>
              </a:rPr>
              <a:t>НАШИ</a:t>
            </a:r>
          </a:p>
          <a:p>
            <a:pPr algn="l">
              <a:lnSpc>
                <a:spcPts val="4075"/>
              </a:lnSpc>
            </a:pPr>
            <a:r>
              <a:rPr lang="en-US" sz="8151" b="1">
                <a:solidFill>
                  <a:srgbClr val="292929"/>
                </a:solidFill>
                <a:latin typeface="Klein Heavy"/>
                <a:ea typeface="Klein Heavy"/>
                <a:cs typeface="Klein Heavy"/>
                <a:sym typeface="Klein Heavy"/>
              </a:rPr>
              <a:t>ПРИЕМУЩЕСТВА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22040" y="611505"/>
            <a:ext cx="1550641" cy="45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199">
                <a:solidFill>
                  <a:srgbClr val="171717"/>
                </a:solidFill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57711" y="489871"/>
            <a:ext cx="1003702" cy="578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8"/>
              </a:lnSpc>
            </a:pPr>
            <a:r>
              <a:rPr lang="en-US" sz="3413" b="1" dirty="0">
                <a:solidFill>
                  <a:srgbClr val="171717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51102" y="7810853"/>
            <a:ext cx="3768852" cy="1901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3"/>
              </a:lnSpc>
            </a:pPr>
            <a:r>
              <a:rPr lang="en-US" sz="20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Переключайтесь между</a:t>
            </a:r>
            <a:r>
              <a:rPr lang="en-US" sz="2040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 NDVI, NDWI, SAVI, </a:t>
            </a:r>
            <a:r>
              <a:rPr lang="en-US" sz="20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чтобы установить точную проблему.</a:t>
            </a:r>
          </a:p>
          <a:p>
            <a:pPr algn="l">
              <a:lnSpc>
                <a:spcPts val="3003"/>
              </a:lnSpc>
            </a:pPr>
            <a:endParaRPr lang="en-US" sz="204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151102" y="6079009"/>
            <a:ext cx="3985797" cy="187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5"/>
              </a:lnSpc>
            </a:pPr>
            <a:r>
              <a:rPr lang="en-US" sz="3151" b="1">
                <a:solidFill>
                  <a:srgbClr val="EDEDE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МУЛЬТИ-ИНДЕКСНЫЙ АНАЛИЗ</a:t>
            </a:r>
          </a:p>
          <a:p>
            <a:pPr algn="l">
              <a:lnSpc>
                <a:spcPts val="3715"/>
              </a:lnSpc>
            </a:pPr>
            <a:endParaRPr lang="en-US" sz="3151" b="1">
              <a:solidFill>
                <a:srgbClr val="EDEDED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469657" y="7070541"/>
            <a:ext cx="53321" cy="40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1470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68579" y="7070541"/>
            <a:ext cx="53321" cy="40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1470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18904" y="4910395"/>
            <a:ext cx="477517" cy="57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1"/>
              </a:lnSpc>
            </a:pPr>
            <a:r>
              <a:rPr lang="en-US" sz="3351" b="1">
                <a:solidFill>
                  <a:srgbClr val="17171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0895" y="4910395"/>
            <a:ext cx="547959" cy="57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1"/>
              </a:lnSpc>
            </a:pPr>
            <a:r>
              <a:rPr lang="en-US" sz="3351" b="1">
                <a:solidFill>
                  <a:srgbClr val="17171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19087" y="4910395"/>
            <a:ext cx="600226" cy="57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1"/>
              </a:lnSpc>
            </a:pPr>
            <a:r>
              <a:rPr lang="en-US" sz="3351" b="1">
                <a:solidFill>
                  <a:srgbClr val="17171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3913" y="611505"/>
            <a:ext cx="1003702" cy="40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199">
                <a:solidFill>
                  <a:srgbClr val="171717"/>
                </a:solidFill>
                <a:latin typeface="Open Sauce"/>
                <a:ea typeface="Open Sauce"/>
                <a:cs typeface="Open Sauce"/>
                <a:sym typeface="Open Sauce"/>
              </a:rPr>
              <a:t>Фишки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48607" y="6079009"/>
            <a:ext cx="3398406" cy="1408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5"/>
              </a:lnSpc>
            </a:pPr>
            <a:r>
              <a:rPr lang="en-US" sz="3151" b="1">
                <a:solidFill>
                  <a:srgbClr val="EDEDE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БИЗНЕС-ДАШБОРД</a:t>
            </a:r>
          </a:p>
          <a:p>
            <a:pPr algn="l">
              <a:lnSpc>
                <a:spcPts val="3715"/>
              </a:lnSpc>
            </a:pPr>
            <a:endParaRPr lang="en-US" sz="3151" b="1">
              <a:solidFill>
                <a:srgbClr val="EDEDED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048607" y="7401282"/>
            <a:ext cx="3768852" cy="1901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3"/>
              </a:lnSpc>
            </a:pPr>
            <a:r>
              <a:rPr lang="en-US" sz="20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Мы показываем проблему в </a:t>
            </a:r>
            <a:r>
              <a:rPr lang="en-US" sz="2040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конкретных гектарах</a:t>
            </a:r>
            <a:r>
              <a:rPr lang="en-US" sz="20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и </a:t>
            </a:r>
            <a:r>
              <a:rPr lang="en-US" sz="2040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процентах</a:t>
            </a:r>
            <a:r>
              <a:rPr lang="en-US" sz="20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, а не в абстрактных цветах.</a:t>
            </a:r>
          </a:p>
          <a:p>
            <a:pPr algn="l">
              <a:lnSpc>
                <a:spcPts val="3003"/>
              </a:lnSpc>
            </a:pPr>
            <a:endParaRPr lang="en-US" sz="204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02969" y="7289616"/>
            <a:ext cx="3768852" cy="1901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3"/>
              </a:lnSpc>
            </a:pPr>
            <a:r>
              <a:rPr lang="en-US" sz="20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Наша ML-модель (CatBoost) прогнозирует итоговую урожайность. Это позволяет принимать удачные финансовые решения.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2969" y="6079009"/>
            <a:ext cx="3985797" cy="941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5"/>
              </a:lnSpc>
            </a:pPr>
            <a:r>
              <a:rPr lang="en-US" sz="3151" b="1">
                <a:solidFill>
                  <a:srgbClr val="EDEDE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ПРЕДИКТИВНЫЙ </a:t>
            </a:r>
          </a:p>
          <a:p>
            <a:pPr algn="l">
              <a:lnSpc>
                <a:spcPts val="3715"/>
              </a:lnSpc>
            </a:pPr>
            <a:r>
              <a:rPr lang="en-US" sz="3151" b="1">
                <a:solidFill>
                  <a:srgbClr val="EDEDE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АНАЛИЗ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264" y="464696"/>
            <a:ext cx="2120417" cy="796871"/>
          </a:xfrm>
          <a:custGeom>
            <a:avLst/>
            <a:gdLst/>
            <a:ahLst/>
            <a:cxnLst/>
            <a:rect l="l" t="t" r="r" b="b"/>
            <a:pathLst>
              <a:path w="2120417" h="796871">
                <a:moveTo>
                  <a:pt x="0" y="0"/>
                </a:moveTo>
                <a:lnTo>
                  <a:pt x="2120417" y="0"/>
                </a:lnTo>
                <a:lnTo>
                  <a:pt x="2120417" y="796871"/>
                </a:lnTo>
                <a:lnTo>
                  <a:pt x="0" y="796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3241977" y="528199"/>
            <a:ext cx="3184874" cy="669874"/>
          </a:xfrm>
          <a:custGeom>
            <a:avLst/>
            <a:gdLst/>
            <a:ahLst/>
            <a:cxnLst/>
            <a:rect l="l" t="t" r="r" b="b"/>
            <a:pathLst>
              <a:path w="3184874" h="669874">
                <a:moveTo>
                  <a:pt x="0" y="0"/>
                </a:moveTo>
                <a:lnTo>
                  <a:pt x="3184874" y="0"/>
                </a:lnTo>
                <a:lnTo>
                  <a:pt x="3184874" y="669875"/>
                </a:lnTo>
                <a:lnTo>
                  <a:pt x="0" y="669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Freeform 4"/>
          <p:cNvSpPr/>
          <p:nvPr/>
        </p:nvSpPr>
        <p:spPr>
          <a:xfrm>
            <a:off x="7892101" y="1934023"/>
            <a:ext cx="9367180" cy="1689268"/>
          </a:xfrm>
          <a:custGeom>
            <a:avLst/>
            <a:gdLst/>
            <a:ahLst/>
            <a:cxnLst/>
            <a:rect l="l" t="t" r="r" b="b"/>
            <a:pathLst>
              <a:path w="9367180" h="1689268">
                <a:moveTo>
                  <a:pt x="0" y="0"/>
                </a:moveTo>
                <a:lnTo>
                  <a:pt x="9367180" y="0"/>
                </a:lnTo>
                <a:lnTo>
                  <a:pt x="9367180" y="1689268"/>
                </a:lnTo>
                <a:lnTo>
                  <a:pt x="0" y="16892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16357710" y="489871"/>
            <a:ext cx="1244489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8"/>
              </a:lnSpc>
            </a:pPr>
            <a:r>
              <a:rPr lang="en-US" sz="3413" b="1" dirty="0">
                <a:solidFill>
                  <a:srgbClr val="FFDE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80095" y="630555"/>
            <a:ext cx="813787" cy="38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1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Стек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74290" y="630555"/>
            <a:ext cx="1550641" cy="437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1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228373"/>
            <a:ext cx="5041211" cy="2790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2"/>
              </a:lnSpc>
            </a:pPr>
            <a:r>
              <a:rPr lang="en-US" sz="14991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СТЕК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908843"/>
            <a:ext cx="10744885" cy="421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5721" lvl="1" indent="-207861" algn="l">
              <a:lnSpc>
                <a:spcPts val="2788"/>
              </a:lnSpc>
              <a:buFont typeface="Arial"/>
              <a:buChar char="•"/>
            </a:pPr>
            <a:r>
              <a:rPr lang="en-US" sz="1925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Frontend:</a:t>
            </a:r>
            <a:r>
              <a:rPr lang="en-US" sz="1925">
                <a:solidFill>
                  <a:srgbClr val="EDEDED"/>
                </a:solidFill>
                <a:latin typeface="Noto Sans"/>
                <a:ea typeface="Noto Sans"/>
                <a:cs typeface="Noto Sans"/>
                <a:sym typeface="Noto Sans"/>
              </a:rPr>
              <a:t> React + Leaflet.js. Выбраны за максимальную интерактивность и создание "бесшовного" пользовательского опыта.</a:t>
            </a:r>
          </a:p>
          <a:p>
            <a:pPr algn="l">
              <a:lnSpc>
                <a:spcPts val="2788"/>
              </a:lnSpc>
            </a:pPr>
            <a:endParaRPr lang="en-US" sz="1925">
              <a:solidFill>
                <a:srgbClr val="EDEDED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415721" lvl="1" indent="-207861" algn="l">
              <a:lnSpc>
                <a:spcPts val="2788"/>
              </a:lnSpc>
              <a:buFont typeface="Arial"/>
              <a:buChar char="•"/>
            </a:pPr>
            <a:r>
              <a:rPr lang="en-US" sz="1925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Backend:</a:t>
            </a:r>
            <a:r>
              <a:rPr lang="en-US" sz="1925">
                <a:solidFill>
                  <a:srgbClr val="EDEDED"/>
                </a:solidFill>
                <a:latin typeface="Noto Sans"/>
                <a:ea typeface="Noto Sans"/>
                <a:cs typeface="Noto Sans"/>
                <a:sym typeface="Noto Sans"/>
              </a:rPr>
              <a:t> Python + FastAPI. Выбран за асинхронность и высочайшую производительность, критически важную для обработки запросов "на лету".</a:t>
            </a:r>
          </a:p>
          <a:p>
            <a:pPr algn="l">
              <a:lnSpc>
                <a:spcPts val="2788"/>
              </a:lnSpc>
            </a:pPr>
            <a:endParaRPr lang="en-US" sz="1925">
              <a:solidFill>
                <a:srgbClr val="EDEDED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415721" lvl="1" indent="-207861" algn="l">
              <a:lnSpc>
                <a:spcPts val="2788"/>
              </a:lnSpc>
              <a:buFont typeface="Arial"/>
              <a:buChar char="•"/>
            </a:pPr>
            <a:r>
              <a:rPr lang="en-US" sz="1925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Геоанализ: </a:t>
            </a:r>
            <a:r>
              <a:rPr lang="en-US" sz="1925">
                <a:solidFill>
                  <a:srgbClr val="EDEDED"/>
                </a:solidFill>
                <a:latin typeface="Noto Sans"/>
                <a:ea typeface="Noto Sans"/>
                <a:cs typeface="Noto Sans"/>
                <a:sym typeface="Noto Sans"/>
              </a:rPr>
              <a:t>Rasterio + GDAL. Это золотой стандарт индустрии. Мы не изобретали велосипед, мы взяли лучшие инструменты для гарантированно точных расчетов.</a:t>
            </a:r>
          </a:p>
          <a:p>
            <a:pPr algn="l">
              <a:lnSpc>
                <a:spcPts val="2788"/>
              </a:lnSpc>
            </a:pPr>
            <a:endParaRPr lang="en-US" sz="1925">
              <a:solidFill>
                <a:srgbClr val="EDEDED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415721" lvl="1" indent="-207861" algn="l">
              <a:lnSpc>
                <a:spcPts val="2788"/>
              </a:lnSpc>
              <a:buFont typeface="Arial"/>
              <a:buChar char="•"/>
            </a:pPr>
            <a:r>
              <a:rPr lang="en-US" sz="1925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AI-мозг:</a:t>
            </a:r>
            <a:r>
              <a:rPr lang="en-US" sz="1925">
                <a:solidFill>
                  <a:srgbClr val="EDEDED"/>
                </a:solidFill>
                <a:latin typeface="Noto Sans"/>
                <a:ea typeface="Noto Sans"/>
                <a:cs typeface="Noto Sans"/>
                <a:sym typeface="Noto Sans"/>
              </a:rPr>
              <a:t> [Gemini 2.5 pro]. Мы интегрировали самую мощную языковую модель для предоставления не просто текста, а ценных, релевантных советов.</a:t>
            </a:r>
          </a:p>
          <a:p>
            <a:pPr algn="l">
              <a:lnSpc>
                <a:spcPts val="2788"/>
              </a:lnSpc>
            </a:pPr>
            <a:endParaRPr lang="en-US" sz="1925">
              <a:solidFill>
                <a:srgbClr val="EDEDE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28700" y="4752280"/>
            <a:ext cx="16248507" cy="613638"/>
            <a:chOff x="0" y="0"/>
            <a:chExt cx="21664676" cy="818184"/>
          </a:xfrm>
        </p:grpSpPr>
        <p:sp>
          <p:nvSpPr>
            <p:cNvPr id="11" name="TextBox 11"/>
            <p:cNvSpPr txBox="1"/>
            <p:nvPr/>
          </p:nvSpPr>
          <p:spPr>
            <a:xfrm>
              <a:off x="4520260" y="92239"/>
              <a:ext cx="3404476" cy="586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7"/>
                </a:lnSpc>
              </a:pPr>
              <a:r>
                <a:rPr lang="en-US" sz="267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Backend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97652" y="92239"/>
              <a:ext cx="3978043" cy="586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47"/>
                </a:lnSpc>
              </a:pPr>
              <a:r>
                <a:rPr lang="en-US" sz="267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 Sources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2396" y="92239"/>
              <a:ext cx="2104261" cy="586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7"/>
                </a:lnSpc>
              </a:pPr>
              <a:r>
                <a:rPr lang="en-US" sz="267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Frontend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52566"/>
              <a:ext cx="3390157" cy="713051"/>
            </a:xfrm>
            <a:custGeom>
              <a:avLst/>
              <a:gdLst/>
              <a:ahLst/>
              <a:cxnLst/>
              <a:rect l="l" t="t" r="r" b="b"/>
              <a:pathLst>
                <a:path w="3390157" h="713051">
                  <a:moveTo>
                    <a:pt x="0" y="0"/>
                  </a:moveTo>
                  <a:lnTo>
                    <a:pt x="3390157" y="0"/>
                  </a:lnTo>
                  <a:lnTo>
                    <a:pt x="3390157" y="713052"/>
                  </a:lnTo>
                  <a:lnTo>
                    <a:pt x="0" y="713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4520260" y="52566"/>
              <a:ext cx="3390157" cy="713051"/>
            </a:xfrm>
            <a:custGeom>
              <a:avLst/>
              <a:gdLst/>
              <a:ahLst/>
              <a:cxnLst/>
              <a:rect l="l" t="t" r="r" b="b"/>
              <a:pathLst>
                <a:path w="3390157" h="713051">
                  <a:moveTo>
                    <a:pt x="0" y="0"/>
                  </a:moveTo>
                  <a:lnTo>
                    <a:pt x="3390157" y="0"/>
                  </a:lnTo>
                  <a:lnTo>
                    <a:pt x="3390157" y="713052"/>
                  </a:lnTo>
                  <a:lnTo>
                    <a:pt x="0" y="713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220626" y="0"/>
              <a:ext cx="3890004" cy="818184"/>
            </a:xfrm>
            <a:custGeom>
              <a:avLst/>
              <a:gdLst/>
              <a:ahLst/>
              <a:cxnLst/>
              <a:rect l="l" t="t" r="r" b="b"/>
              <a:pathLst>
                <a:path w="3890004" h="818184">
                  <a:moveTo>
                    <a:pt x="0" y="0"/>
                  </a:moveTo>
                  <a:lnTo>
                    <a:pt x="3890004" y="0"/>
                  </a:lnTo>
                  <a:lnTo>
                    <a:pt x="3890004" y="818184"/>
                  </a:lnTo>
                  <a:lnTo>
                    <a:pt x="0" y="818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016924" y="92239"/>
              <a:ext cx="3454384" cy="586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47"/>
                </a:lnSpc>
              </a:pPr>
              <a:r>
                <a:rPr lang="en-US" sz="267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AI Model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4267021" y="52566"/>
              <a:ext cx="3340912" cy="702694"/>
            </a:xfrm>
            <a:custGeom>
              <a:avLst/>
              <a:gdLst/>
              <a:ahLst/>
              <a:cxnLst/>
              <a:rect l="l" t="t" r="r" b="b"/>
              <a:pathLst>
                <a:path w="3340912" h="702694">
                  <a:moveTo>
                    <a:pt x="0" y="0"/>
                  </a:moveTo>
                  <a:lnTo>
                    <a:pt x="3340912" y="0"/>
                  </a:lnTo>
                  <a:lnTo>
                    <a:pt x="3340912" y="702694"/>
                  </a:lnTo>
                  <a:lnTo>
                    <a:pt x="0" y="702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358154" y="49319"/>
              <a:ext cx="1626660" cy="5956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47"/>
                </a:lnSpc>
              </a:pPr>
              <a:r>
                <a:rPr lang="en-US" sz="2676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Docker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8678291" y="56902"/>
              <a:ext cx="2986385" cy="628126"/>
            </a:xfrm>
            <a:custGeom>
              <a:avLst/>
              <a:gdLst/>
              <a:ahLst/>
              <a:cxnLst/>
              <a:rect l="l" t="t" r="r" b="b"/>
              <a:pathLst>
                <a:path w="2986385" h="628126">
                  <a:moveTo>
                    <a:pt x="0" y="0"/>
                  </a:moveTo>
                  <a:lnTo>
                    <a:pt x="2986385" y="0"/>
                  </a:lnTo>
                  <a:lnTo>
                    <a:pt x="2986385" y="628126"/>
                  </a:lnTo>
                  <a:lnTo>
                    <a:pt x="0" y="62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3397505" y="409092"/>
              <a:ext cx="1159176" cy="0"/>
            </a:xfrm>
            <a:prstGeom prst="line">
              <a:avLst/>
            </a:prstGeom>
            <a:ln w="38127" cap="flat">
              <a:gradFill>
                <a:gsLst>
                  <a:gs pos="0">
                    <a:srgbClr val="FFDE59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7893965" y="370965"/>
              <a:ext cx="1365150" cy="0"/>
            </a:xfrm>
            <a:prstGeom prst="line">
              <a:avLst/>
            </a:prstGeom>
            <a:ln w="38127" cap="flat">
              <a:gradFill>
                <a:gsLst>
                  <a:gs pos="0">
                    <a:srgbClr val="FFDE59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13074736" y="370965"/>
              <a:ext cx="1180979" cy="0"/>
            </a:xfrm>
            <a:prstGeom prst="line">
              <a:avLst/>
            </a:prstGeom>
            <a:ln w="38127" cap="flat">
              <a:gradFill>
                <a:gsLst>
                  <a:gs pos="0">
                    <a:srgbClr val="FFDE59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17576161" y="370965"/>
              <a:ext cx="1159176" cy="0"/>
            </a:xfrm>
            <a:prstGeom prst="line">
              <a:avLst/>
            </a:prstGeom>
            <a:ln w="38127" cap="flat">
              <a:gradFill>
                <a:gsLst>
                  <a:gs pos="0">
                    <a:srgbClr val="FFDE59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340" y="464696"/>
            <a:ext cx="2872454" cy="796871"/>
          </a:xfrm>
          <a:custGeom>
            <a:avLst/>
            <a:gdLst/>
            <a:ahLst/>
            <a:cxnLst/>
            <a:rect l="l" t="t" r="r" b="b"/>
            <a:pathLst>
              <a:path w="2872454" h="796871">
                <a:moveTo>
                  <a:pt x="0" y="0"/>
                </a:moveTo>
                <a:lnTo>
                  <a:pt x="2872454" y="0"/>
                </a:lnTo>
                <a:lnTo>
                  <a:pt x="2872454" y="796871"/>
                </a:lnTo>
                <a:lnTo>
                  <a:pt x="0" y="796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-133093" y="6559267"/>
            <a:ext cx="18573493" cy="1502302"/>
          </a:xfrm>
          <a:custGeom>
            <a:avLst/>
            <a:gdLst/>
            <a:ahLst/>
            <a:cxnLst/>
            <a:rect l="l" t="t" r="r" b="b"/>
            <a:pathLst>
              <a:path w="18421093" h="1502302">
                <a:moveTo>
                  <a:pt x="0" y="0"/>
                </a:moveTo>
                <a:lnTo>
                  <a:pt x="18421093" y="0"/>
                </a:lnTo>
                <a:lnTo>
                  <a:pt x="18421093" y="1502302"/>
                </a:lnTo>
                <a:lnTo>
                  <a:pt x="0" y="15023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Freeform 4"/>
          <p:cNvSpPr/>
          <p:nvPr/>
        </p:nvSpPr>
        <p:spPr>
          <a:xfrm>
            <a:off x="4204002" y="528199"/>
            <a:ext cx="3184874" cy="669874"/>
          </a:xfrm>
          <a:custGeom>
            <a:avLst/>
            <a:gdLst/>
            <a:ahLst/>
            <a:cxnLst/>
            <a:rect l="l" t="t" r="r" b="b"/>
            <a:pathLst>
              <a:path w="3184874" h="669874">
                <a:moveTo>
                  <a:pt x="0" y="0"/>
                </a:moveTo>
                <a:lnTo>
                  <a:pt x="3184874" y="0"/>
                </a:lnTo>
                <a:lnTo>
                  <a:pt x="3184874" y="669875"/>
                </a:lnTo>
                <a:lnTo>
                  <a:pt x="0" y="669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5036315" y="649605"/>
            <a:ext cx="1550641" cy="41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80095" y="670236"/>
            <a:ext cx="1043168" cy="38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Пункты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57710" y="489871"/>
            <a:ext cx="1320689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8"/>
              </a:lnSpc>
            </a:pPr>
            <a:r>
              <a:rPr lang="en-US" sz="3413" b="1" dirty="0">
                <a:solidFill>
                  <a:srgbClr val="FFDE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7154" y="1512303"/>
            <a:ext cx="446880" cy="64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1"/>
              </a:lnSpc>
              <a:spcBef>
                <a:spcPct val="0"/>
              </a:spcBef>
            </a:pPr>
            <a:r>
              <a:rPr lang="en-US" sz="2340" u="none" strike="noStrike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80095" y="1631018"/>
            <a:ext cx="13223403" cy="12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7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НАША КОМАНДА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8064" y="3171415"/>
            <a:ext cx="428692" cy="64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1"/>
              </a:lnSpc>
              <a:spcBef>
                <a:spcPct val="0"/>
              </a:spcBef>
            </a:pPr>
            <a:r>
              <a:rPr lang="en-US" sz="2340" u="none" strike="noStrike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8804" y="4814859"/>
            <a:ext cx="575229" cy="64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1"/>
              </a:lnSpc>
              <a:spcBef>
                <a:spcPct val="0"/>
              </a:spcBef>
            </a:pPr>
            <a:r>
              <a:rPr lang="en-US" sz="2340" u="none" strike="noStrike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/12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5823" y="6905968"/>
            <a:ext cx="834283" cy="189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70"/>
              </a:lnSpc>
              <a:spcBef>
                <a:spcPct val="0"/>
              </a:spcBef>
            </a:pPr>
            <a:r>
              <a:rPr lang="en-US" sz="2340" u="none" strike="noStrik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/16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9254" y="8101727"/>
            <a:ext cx="1164346" cy="636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2340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/19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40427" y="3314290"/>
            <a:ext cx="5448449" cy="12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7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ПРОБЛЕМА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40427" y="4957734"/>
            <a:ext cx="7616279" cy="12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7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НАШЕ РЕШЕНИЕ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40427" y="7237390"/>
            <a:ext cx="13458257" cy="603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171717"/>
                </a:solidFill>
                <a:latin typeface="Klein Heavy"/>
                <a:ea typeface="Klein Heavy"/>
                <a:cs typeface="Klein Heavy"/>
                <a:sym typeface="Klein Heavy"/>
              </a:rPr>
              <a:t>СКРИНКАСТ ПРОЕКТА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80094" y="8244602"/>
            <a:ext cx="4344505" cy="1178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ИТОГИ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E5CD7-6079-7F32-5F7F-E4265B50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5C600E-FD8F-78C8-949F-9123E5D2AA46}"/>
              </a:ext>
            </a:extLst>
          </p:cNvPr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483B349-86DA-8BD6-E67E-8F4E585EB905}"/>
              </a:ext>
            </a:extLst>
          </p:cNvPr>
          <p:cNvGrpSpPr>
            <a:grpSpLocks noChangeAspect="1"/>
          </p:cNvGrpSpPr>
          <p:nvPr/>
        </p:nvGrpSpPr>
        <p:grpSpPr>
          <a:xfrm>
            <a:off x="1388393" y="695858"/>
            <a:ext cx="340376" cy="340376"/>
            <a:chOff x="0" y="0"/>
            <a:chExt cx="340373" cy="3403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A8602DD-D860-6BE2-32E4-E28B7E947DFD}"/>
                </a:ext>
              </a:extLst>
            </p:cNvPr>
            <p:cNvSpPr/>
            <p:nvPr/>
          </p:nvSpPr>
          <p:spPr>
            <a:xfrm>
              <a:off x="0" y="0"/>
              <a:ext cx="340360" cy="340360"/>
            </a:xfrm>
            <a:custGeom>
              <a:avLst/>
              <a:gdLst/>
              <a:ahLst/>
              <a:cxnLst/>
              <a:rect l="l" t="t" r="r" b="b"/>
              <a:pathLst>
                <a:path w="340360" h="340360">
                  <a:moveTo>
                    <a:pt x="0" y="340360"/>
                  </a:moveTo>
                  <a:lnTo>
                    <a:pt x="340360" y="340360"/>
                  </a:lnTo>
                  <a:lnTo>
                    <a:pt x="3403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309655EC-BB5B-995F-59BC-6E5625AEB192}"/>
              </a:ext>
            </a:extLst>
          </p:cNvPr>
          <p:cNvSpPr txBox="1"/>
          <p:nvPr/>
        </p:nvSpPr>
        <p:spPr>
          <a:xfrm>
            <a:off x="1950582" y="585510"/>
            <a:ext cx="1491530" cy="450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Скринкаст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3C951EF-E77B-D792-6AF8-42F780464940}"/>
              </a:ext>
            </a:extLst>
          </p:cNvPr>
          <p:cNvSpPr txBox="1"/>
          <p:nvPr/>
        </p:nvSpPr>
        <p:spPr>
          <a:xfrm>
            <a:off x="4845815" y="563880"/>
            <a:ext cx="1550641" cy="50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849AC91-8972-DAFE-A52F-1C854CB15937}"/>
              </a:ext>
            </a:extLst>
          </p:cNvPr>
          <p:cNvSpPr txBox="1"/>
          <p:nvPr/>
        </p:nvSpPr>
        <p:spPr>
          <a:xfrm>
            <a:off x="1028700" y="1094880"/>
            <a:ext cx="15517835" cy="16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СКРИН</a:t>
            </a:r>
            <a:r>
              <a:rPr kumimoji="0" lang="ru-RU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Ы</a:t>
            </a:r>
            <a:r>
              <a:rPr kumimoji="0" lang="en-US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 НАШЕГО РЕШЕНИЯ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4649267-4D62-EB1B-B4B1-21B79EA84366}"/>
              </a:ext>
            </a:extLst>
          </p:cNvPr>
          <p:cNvSpPr txBox="1"/>
          <p:nvPr/>
        </p:nvSpPr>
        <p:spPr>
          <a:xfrm>
            <a:off x="16357710" y="489871"/>
            <a:ext cx="1281027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77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13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pic>
        <p:nvPicPr>
          <p:cNvPr id="12" name="Рисунок 11" descr="Изображение выглядит как текст, программное обеспечение, Значок на компьютер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E0B3752-A8DB-191E-6FD5-A089341793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64" b="8444"/>
          <a:stretch>
            <a:fillRect/>
          </a:stretch>
        </p:blipFill>
        <p:spPr>
          <a:xfrm>
            <a:off x="1028700" y="2988305"/>
            <a:ext cx="14336486" cy="660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82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4C1CE-94B7-D6D6-D97A-AC46C6CE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37BF87C-D10C-8593-703F-3FBB8876E97C}"/>
              </a:ext>
            </a:extLst>
          </p:cNvPr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6CAED11-59D8-04E0-EC93-2EA5633CA2A7}"/>
              </a:ext>
            </a:extLst>
          </p:cNvPr>
          <p:cNvGrpSpPr>
            <a:grpSpLocks noChangeAspect="1"/>
          </p:cNvGrpSpPr>
          <p:nvPr/>
        </p:nvGrpSpPr>
        <p:grpSpPr>
          <a:xfrm>
            <a:off x="1388393" y="695858"/>
            <a:ext cx="340376" cy="340376"/>
            <a:chOff x="0" y="0"/>
            <a:chExt cx="340373" cy="3403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1591CBE-6F6B-984A-346B-88AADF1A7AC5}"/>
                </a:ext>
              </a:extLst>
            </p:cNvPr>
            <p:cNvSpPr/>
            <p:nvPr/>
          </p:nvSpPr>
          <p:spPr>
            <a:xfrm>
              <a:off x="0" y="0"/>
              <a:ext cx="340360" cy="340360"/>
            </a:xfrm>
            <a:custGeom>
              <a:avLst/>
              <a:gdLst/>
              <a:ahLst/>
              <a:cxnLst/>
              <a:rect l="l" t="t" r="r" b="b"/>
              <a:pathLst>
                <a:path w="340360" h="340360">
                  <a:moveTo>
                    <a:pt x="0" y="340360"/>
                  </a:moveTo>
                  <a:lnTo>
                    <a:pt x="340360" y="340360"/>
                  </a:lnTo>
                  <a:lnTo>
                    <a:pt x="3403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D2700813-CC07-C7D7-D61B-A0C365183F3A}"/>
              </a:ext>
            </a:extLst>
          </p:cNvPr>
          <p:cNvSpPr txBox="1"/>
          <p:nvPr/>
        </p:nvSpPr>
        <p:spPr>
          <a:xfrm>
            <a:off x="1950582" y="585510"/>
            <a:ext cx="1491530" cy="450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Скринкаст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7C184FC-08C2-EDE9-983D-C701AC41184D}"/>
              </a:ext>
            </a:extLst>
          </p:cNvPr>
          <p:cNvSpPr txBox="1"/>
          <p:nvPr/>
        </p:nvSpPr>
        <p:spPr>
          <a:xfrm>
            <a:off x="4845815" y="563880"/>
            <a:ext cx="1550641" cy="50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2D1F4C6-9263-F223-8421-D929C49F069B}"/>
              </a:ext>
            </a:extLst>
          </p:cNvPr>
          <p:cNvSpPr txBox="1"/>
          <p:nvPr/>
        </p:nvSpPr>
        <p:spPr>
          <a:xfrm>
            <a:off x="1028700" y="1094880"/>
            <a:ext cx="15517835" cy="16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СКРИН</a:t>
            </a:r>
            <a:r>
              <a:rPr kumimoji="0" lang="ru-RU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Ы</a:t>
            </a:r>
            <a:r>
              <a:rPr kumimoji="0" lang="en-US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 НАШЕГО РЕШЕНИЯ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6EA5F40-98DD-E9BE-4E38-605505E6F46C}"/>
              </a:ext>
            </a:extLst>
          </p:cNvPr>
          <p:cNvSpPr txBox="1"/>
          <p:nvPr/>
        </p:nvSpPr>
        <p:spPr>
          <a:xfrm>
            <a:off x="16357710" y="489871"/>
            <a:ext cx="1281027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77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13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pic>
        <p:nvPicPr>
          <p:cNvPr id="4" name="Рисунок 3" descr="Изображение выглядит как текст, снимок экрана, кар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20FA209-A06E-0D3A-2052-EC6E7C1F3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4" b="3902"/>
          <a:stretch>
            <a:fillRect/>
          </a:stretch>
        </p:blipFill>
        <p:spPr>
          <a:xfrm>
            <a:off x="1219200" y="3280349"/>
            <a:ext cx="14249400" cy="589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0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E4B92-A105-4AA2-57D9-FAA62C1FA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302F4F5-8954-658C-BFE1-C271400EB068}"/>
              </a:ext>
            </a:extLst>
          </p:cNvPr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717B49A-7BFC-7686-A250-46C03EDED598}"/>
              </a:ext>
            </a:extLst>
          </p:cNvPr>
          <p:cNvGrpSpPr>
            <a:grpSpLocks noChangeAspect="1"/>
          </p:cNvGrpSpPr>
          <p:nvPr/>
        </p:nvGrpSpPr>
        <p:grpSpPr>
          <a:xfrm>
            <a:off x="1388393" y="695858"/>
            <a:ext cx="340376" cy="340376"/>
            <a:chOff x="0" y="0"/>
            <a:chExt cx="340373" cy="3403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FCF4094-E2A4-D51E-39AE-FA34D81DB113}"/>
                </a:ext>
              </a:extLst>
            </p:cNvPr>
            <p:cNvSpPr/>
            <p:nvPr/>
          </p:nvSpPr>
          <p:spPr>
            <a:xfrm>
              <a:off x="0" y="0"/>
              <a:ext cx="340360" cy="340360"/>
            </a:xfrm>
            <a:custGeom>
              <a:avLst/>
              <a:gdLst/>
              <a:ahLst/>
              <a:cxnLst/>
              <a:rect l="l" t="t" r="r" b="b"/>
              <a:pathLst>
                <a:path w="340360" h="340360">
                  <a:moveTo>
                    <a:pt x="0" y="340360"/>
                  </a:moveTo>
                  <a:lnTo>
                    <a:pt x="340360" y="340360"/>
                  </a:lnTo>
                  <a:lnTo>
                    <a:pt x="3403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0238632-1747-1EA7-9365-082D1EB54EAD}"/>
              </a:ext>
            </a:extLst>
          </p:cNvPr>
          <p:cNvSpPr txBox="1"/>
          <p:nvPr/>
        </p:nvSpPr>
        <p:spPr>
          <a:xfrm>
            <a:off x="1950582" y="585510"/>
            <a:ext cx="1491530" cy="450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Скринкаст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9678191-9B4F-55A3-9EF1-A16A1A69E044}"/>
              </a:ext>
            </a:extLst>
          </p:cNvPr>
          <p:cNvSpPr txBox="1"/>
          <p:nvPr/>
        </p:nvSpPr>
        <p:spPr>
          <a:xfrm>
            <a:off x="4845815" y="563880"/>
            <a:ext cx="1550641" cy="50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C3D21C9-C4FE-731F-4F7C-08DFF9AC99A3}"/>
              </a:ext>
            </a:extLst>
          </p:cNvPr>
          <p:cNvSpPr txBox="1"/>
          <p:nvPr/>
        </p:nvSpPr>
        <p:spPr>
          <a:xfrm>
            <a:off x="1028700" y="1094880"/>
            <a:ext cx="15517835" cy="16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СКРИН</a:t>
            </a:r>
            <a:r>
              <a:rPr kumimoji="0" lang="ru-RU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Ы</a:t>
            </a:r>
            <a:r>
              <a:rPr kumimoji="0" lang="en-US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 НАШЕГО РЕШЕНИЯ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AE3EC2D-5374-494A-B22A-CDAECFEA47E6}"/>
              </a:ext>
            </a:extLst>
          </p:cNvPr>
          <p:cNvSpPr txBox="1"/>
          <p:nvPr/>
        </p:nvSpPr>
        <p:spPr>
          <a:xfrm>
            <a:off x="16357710" y="489871"/>
            <a:ext cx="1281027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77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13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pic>
        <p:nvPicPr>
          <p:cNvPr id="4" name="Рисунок 3" descr="Изображение выглядит как текст, снимок экрана, Шрифт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3DF04C3-8E7A-D657-0933-379099468A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119906"/>
            <a:ext cx="3775671" cy="6879714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программное обеспечение, веб-страница, Веб-сай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2C6F3D-2E34-7CCD-0791-FF2C809997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7"/>
          <a:stretch>
            <a:fillRect/>
          </a:stretch>
        </p:blipFill>
        <p:spPr>
          <a:xfrm>
            <a:off x="5420688" y="3130793"/>
            <a:ext cx="11952912" cy="564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442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DFB83-735D-AC6E-A858-258851A2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B847DDE-AB80-3BC5-2DED-B02BC93B7FCB}"/>
              </a:ext>
            </a:extLst>
          </p:cNvPr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1852B3F-93E1-2980-F8DB-05F2586F60E2}"/>
              </a:ext>
            </a:extLst>
          </p:cNvPr>
          <p:cNvGrpSpPr>
            <a:grpSpLocks noChangeAspect="1"/>
          </p:cNvGrpSpPr>
          <p:nvPr/>
        </p:nvGrpSpPr>
        <p:grpSpPr>
          <a:xfrm>
            <a:off x="1388393" y="695858"/>
            <a:ext cx="340376" cy="340376"/>
            <a:chOff x="0" y="0"/>
            <a:chExt cx="340373" cy="3403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6AD6146-136A-A6B3-FF23-D32C2BF4F209}"/>
                </a:ext>
              </a:extLst>
            </p:cNvPr>
            <p:cNvSpPr/>
            <p:nvPr/>
          </p:nvSpPr>
          <p:spPr>
            <a:xfrm>
              <a:off x="0" y="0"/>
              <a:ext cx="340360" cy="340360"/>
            </a:xfrm>
            <a:custGeom>
              <a:avLst/>
              <a:gdLst/>
              <a:ahLst/>
              <a:cxnLst/>
              <a:rect l="l" t="t" r="r" b="b"/>
              <a:pathLst>
                <a:path w="340360" h="340360">
                  <a:moveTo>
                    <a:pt x="0" y="340360"/>
                  </a:moveTo>
                  <a:lnTo>
                    <a:pt x="340360" y="340360"/>
                  </a:lnTo>
                  <a:lnTo>
                    <a:pt x="3403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3683E662-A6F2-3CA9-7AD3-884BE33A31ED}"/>
              </a:ext>
            </a:extLst>
          </p:cNvPr>
          <p:cNvSpPr txBox="1"/>
          <p:nvPr/>
        </p:nvSpPr>
        <p:spPr>
          <a:xfrm>
            <a:off x="1950582" y="585510"/>
            <a:ext cx="1491530" cy="450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Скринкаст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047590B-881C-DAF8-0190-513891F374C8}"/>
              </a:ext>
            </a:extLst>
          </p:cNvPr>
          <p:cNvSpPr txBox="1"/>
          <p:nvPr/>
        </p:nvSpPr>
        <p:spPr>
          <a:xfrm>
            <a:off x="4845815" y="563880"/>
            <a:ext cx="1550641" cy="50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4370C51-8A08-FC43-FCFC-C14E443A8295}"/>
              </a:ext>
            </a:extLst>
          </p:cNvPr>
          <p:cNvSpPr txBox="1"/>
          <p:nvPr/>
        </p:nvSpPr>
        <p:spPr>
          <a:xfrm>
            <a:off x="1028700" y="1094880"/>
            <a:ext cx="15517835" cy="16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СКРИН</a:t>
            </a:r>
            <a:r>
              <a:rPr kumimoji="0" lang="ru-RU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Ы</a:t>
            </a:r>
            <a:r>
              <a:rPr kumimoji="0" lang="en-US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 НАШЕГО РЕШЕНИЯ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4C2AC35-B88E-8CDA-1756-2956C5D13F4B}"/>
              </a:ext>
            </a:extLst>
          </p:cNvPr>
          <p:cNvSpPr txBox="1"/>
          <p:nvPr/>
        </p:nvSpPr>
        <p:spPr>
          <a:xfrm>
            <a:off x="16357710" y="489871"/>
            <a:ext cx="1281027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77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13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pic>
        <p:nvPicPr>
          <p:cNvPr id="4" name="Рисунок 3" descr="Изображение выглядит как текст, чек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FBE437-7102-04E4-B0FA-4866F95AD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21"/>
          <a:stretch>
            <a:fillRect/>
          </a:stretch>
        </p:blipFill>
        <p:spPr>
          <a:xfrm>
            <a:off x="1028700" y="2795846"/>
            <a:ext cx="14211300" cy="693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926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1FE9-0166-7E96-4F33-AE466D51F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DE303C9-BE39-FB5C-1400-AEE9B0E50C1D}"/>
              </a:ext>
            </a:extLst>
          </p:cNvPr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49F05CA-B6F2-9133-8BB3-FDBAC84243A4}"/>
              </a:ext>
            </a:extLst>
          </p:cNvPr>
          <p:cNvGrpSpPr>
            <a:grpSpLocks noChangeAspect="1"/>
          </p:cNvGrpSpPr>
          <p:nvPr/>
        </p:nvGrpSpPr>
        <p:grpSpPr>
          <a:xfrm>
            <a:off x="1388393" y="695858"/>
            <a:ext cx="340376" cy="340376"/>
            <a:chOff x="0" y="0"/>
            <a:chExt cx="340373" cy="3403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AF7C100-223E-1FFF-8D00-5E8DA2F36E3D}"/>
                </a:ext>
              </a:extLst>
            </p:cNvPr>
            <p:cNvSpPr/>
            <p:nvPr/>
          </p:nvSpPr>
          <p:spPr>
            <a:xfrm>
              <a:off x="0" y="0"/>
              <a:ext cx="340360" cy="340360"/>
            </a:xfrm>
            <a:custGeom>
              <a:avLst/>
              <a:gdLst/>
              <a:ahLst/>
              <a:cxnLst/>
              <a:rect l="l" t="t" r="r" b="b"/>
              <a:pathLst>
                <a:path w="340360" h="340360">
                  <a:moveTo>
                    <a:pt x="0" y="340360"/>
                  </a:moveTo>
                  <a:lnTo>
                    <a:pt x="340360" y="340360"/>
                  </a:lnTo>
                  <a:lnTo>
                    <a:pt x="3403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AB1B170-8E37-076B-56CA-8FB1C522CEBE}"/>
              </a:ext>
            </a:extLst>
          </p:cNvPr>
          <p:cNvSpPr txBox="1"/>
          <p:nvPr/>
        </p:nvSpPr>
        <p:spPr>
          <a:xfrm>
            <a:off x="1950582" y="585510"/>
            <a:ext cx="1491530" cy="450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Скринкаст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3AB634F-F4CA-39EF-7062-DF7CC23F4ABD}"/>
              </a:ext>
            </a:extLst>
          </p:cNvPr>
          <p:cNvSpPr txBox="1"/>
          <p:nvPr/>
        </p:nvSpPr>
        <p:spPr>
          <a:xfrm>
            <a:off x="4845815" y="563880"/>
            <a:ext cx="1550641" cy="50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40CCAE2-3999-B1E1-1B22-6073765C42FA}"/>
              </a:ext>
            </a:extLst>
          </p:cNvPr>
          <p:cNvSpPr txBox="1"/>
          <p:nvPr/>
        </p:nvSpPr>
        <p:spPr>
          <a:xfrm>
            <a:off x="1028700" y="1094880"/>
            <a:ext cx="15517835" cy="16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СКРИН</a:t>
            </a:r>
            <a:r>
              <a:rPr kumimoji="0" lang="ru-RU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Ы</a:t>
            </a:r>
            <a:r>
              <a:rPr kumimoji="0" lang="en-US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 НАШЕГО РЕШЕНИЯ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F714B9C-1BE8-6859-D0D6-8C116AD61991}"/>
              </a:ext>
            </a:extLst>
          </p:cNvPr>
          <p:cNvSpPr txBox="1"/>
          <p:nvPr/>
        </p:nvSpPr>
        <p:spPr>
          <a:xfrm>
            <a:off x="16357710" y="489871"/>
            <a:ext cx="1281027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77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13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pic>
        <p:nvPicPr>
          <p:cNvPr id="7" name="Рисунок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F56A11-0646-2955-55E0-84444BE44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994866"/>
            <a:ext cx="11315700" cy="672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84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32117-B4E6-BF38-B117-028F41A34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30DD71A-9E5C-9F41-8D24-5B235600DD2E}"/>
              </a:ext>
            </a:extLst>
          </p:cNvPr>
          <p:cNvSpPr/>
          <p:nvPr/>
        </p:nvSpPr>
        <p:spPr>
          <a:xfrm>
            <a:off x="-63503" y="-88897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137BD56-DC4A-1F3E-0BB4-8B5C033BEC8D}"/>
              </a:ext>
            </a:extLst>
          </p:cNvPr>
          <p:cNvGrpSpPr>
            <a:grpSpLocks noChangeAspect="1"/>
          </p:cNvGrpSpPr>
          <p:nvPr/>
        </p:nvGrpSpPr>
        <p:grpSpPr>
          <a:xfrm>
            <a:off x="1388393" y="695858"/>
            <a:ext cx="340376" cy="340376"/>
            <a:chOff x="0" y="0"/>
            <a:chExt cx="340373" cy="3403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1D6DF3A-C2CD-88AB-A640-D13838E596AE}"/>
                </a:ext>
              </a:extLst>
            </p:cNvPr>
            <p:cNvSpPr/>
            <p:nvPr/>
          </p:nvSpPr>
          <p:spPr>
            <a:xfrm>
              <a:off x="0" y="0"/>
              <a:ext cx="340360" cy="340360"/>
            </a:xfrm>
            <a:custGeom>
              <a:avLst/>
              <a:gdLst/>
              <a:ahLst/>
              <a:cxnLst/>
              <a:rect l="l" t="t" r="r" b="b"/>
              <a:pathLst>
                <a:path w="340360" h="340360">
                  <a:moveTo>
                    <a:pt x="0" y="340360"/>
                  </a:moveTo>
                  <a:lnTo>
                    <a:pt x="340360" y="340360"/>
                  </a:lnTo>
                  <a:lnTo>
                    <a:pt x="3403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357B8F9-B9FA-76E2-E2F7-068EA0392106}"/>
              </a:ext>
            </a:extLst>
          </p:cNvPr>
          <p:cNvSpPr txBox="1"/>
          <p:nvPr/>
        </p:nvSpPr>
        <p:spPr>
          <a:xfrm>
            <a:off x="1950582" y="585510"/>
            <a:ext cx="1491530" cy="450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Скринкаст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919755D-DCDB-A969-5B2B-B837D019EBD6}"/>
              </a:ext>
            </a:extLst>
          </p:cNvPr>
          <p:cNvSpPr txBox="1"/>
          <p:nvPr/>
        </p:nvSpPr>
        <p:spPr>
          <a:xfrm>
            <a:off x="4845815" y="563880"/>
            <a:ext cx="1550641" cy="50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69EB819-A522-0809-4115-7C7B3417B1E6}"/>
              </a:ext>
            </a:extLst>
          </p:cNvPr>
          <p:cNvSpPr txBox="1"/>
          <p:nvPr/>
        </p:nvSpPr>
        <p:spPr>
          <a:xfrm>
            <a:off x="1028700" y="1094880"/>
            <a:ext cx="15517835" cy="16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СКРИН</a:t>
            </a:r>
            <a:r>
              <a:rPr kumimoji="0" lang="ru-RU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Ы</a:t>
            </a:r>
            <a:r>
              <a:rPr kumimoji="0" lang="en-US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 НАШЕГО РЕШЕНИЯ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AA8A9FA-C666-48AF-665C-5A102D925110}"/>
              </a:ext>
            </a:extLst>
          </p:cNvPr>
          <p:cNvSpPr txBox="1"/>
          <p:nvPr/>
        </p:nvSpPr>
        <p:spPr>
          <a:xfrm>
            <a:off x="16357710" y="489871"/>
            <a:ext cx="1281027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77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13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pic>
        <p:nvPicPr>
          <p:cNvPr id="7" name="Рисунок 6" descr="Изображение выглядит как текст, снимок экрана, веб-страница, Веб-сай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302F4CB-4B95-95E7-C3D9-857F3F739E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2900015"/>
            <a:ext cx="5638800" cy="685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667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6DB9F-54C3-9A11-229E-D73AA8048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1FEA4A-65E1-7774-6807-480EABB7A88A}"/>
              </a:ext>
            </a:extLst>
          </p:cNvPr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F8D33A7-BE3C-89EE-87A2-2F50CB0FA3F8}"/>
              </a:ext>
            </a:extLst>
          </p:cNvPr>
          <p:cNvGrpSpPr>
            <a:grpSpLocks noChangeAspect="1"/>
          </p:cNvGrpSpPr>
          <p:nvPr/>
        </p:nvGrpSpPr>
        <p:grpSpPr>
          <a:xfrm>
            <a:off x="1388393" y="695858"/>
            <a:ext cx="340376" cy="340376"/>
            <a:chOff x="0" y="0"/>
            <a:chExt cx="340373" cy="3403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A066C1F-18ED-0E60-245B-D427A6252DB0}"/>
                </a:ext>
              </a:extLst>
            </p:cNvPr>
            <p:cNvSpPr/>
            <p:nvPr/>
          </p:nvSpPr>
          <p:spPr>
            <a:xfrm>
              <a:off x="0" y="0"/>
              <a:ext cx="340360" cy="340360"/>
            </a:xfrm>
            <a:custGeom>
              <a:avLst/>
              <a:gdLst/>
              <a:ahLst/>
              <a:cxnLst/>
              <a:rect l="l" t="t" r="r" b="b"/>
              <a:pathLst>
                <a:path w="340360" h="340360">
                  <a:moveTo>
                    <a:pt x="0" y="340360"/>
                  </a:moveTo>
                  <a:lnTo>
                    <a:pt x="340360" y="340360"/>
                  </a:lnTo>
                  <a:lnTo>
                    <a:pt x="3403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C470A893-08BA-D8E2-6D49-662616C949AF}"/>
              </a:ext>
            </a:extLst>
          </p:cNvPr>
          <p:cNvSpPr txBox="1"/>
          <p:nvPr/>
        </p:nvSpPr>
        <p:spPr>
          <a:xfrm>
            <a:off x="1950582" y="585510"/>
            <a:ext cx="1491530" cy="450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Скринкаст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86108F4-2E29-060E-A5F7-078DFDAD429F}"/>
              </a:ext>
            </a:extLst>
          </p:cNvPr>
          <p:cNvSpPr txBox="1"/>
          <p:nvPr/>
        </p:nvSpPr>
        <p:spPr>
          <a:xfrm>
            <a:off x="4845815" y="563880"/>
            <a:ext cx="1550641" cy="50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5CE2D3A-BB22-8453-6DAD-5155C68C1045}"/>
              </a:ext>
            </a:extLst>
          </p:cNvPr>
          <p:cNvSpPr txBox="1"/>
          <p:nvPr/>
        </p:nvSpPr>
        <p:spPr>
          <a:xfrm>
            <a:off x="1028700" y="1094880"/>
            <a:ext cx="15517835" cy="16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СКРИН</a:t>
            </a:r>
            <a:r>
              <a:rPr kumimoji="0" lang="ru-RU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Ы</a:t>
            </a:r>
            <a:r>
              <a:rPr kumimoji="0" lang="en-US" sz="7785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Noto Sans Bold"/>
                <a:ea typeface="Noto Sans Bold"/>
                <a:cs typeface="Noto Sans Bold"/>
                <a:sym typeface="Noto Sans Bold"/>
              </a:rPr>
              <a:t> НАШЕГО РЕШЕНИЯ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8A074C0-8F6F-E477-A6DA-26343359B7B4}"/>
              </a:ext>
            </a:extLst>
          </p:cNvPr>
          <p:cNvSpPr txBox="1"/>
          <p:nvPr/>
        </p:nvSpPr>
        <p:spPr>
          <a:xfrm>
            <a:off x="16357710" y="489871"/>
            <a:ext cx="1281027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77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13" b="1" i="0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pic>
        <p:nvPicPr>
          <p:cNvPr id="7" name="Рисунок 6" descr="Изображение выглядит как текст, карта, снимок экрана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36FF836-01FA-11BF-874A-498EC4DFEF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99" y="3009901"/>
            <a:ext cx="14369123" cy="693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167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340" y="464696"/>
            <a:ext cx="2872454" cy="796871"/>
          </a:xfrm>
          <a:custGeom>
            <a:avLst/>
            <a:gdLst/>
            <a:ahLst/>
            <a:cxnLst/>
            <a:rect l="l" t="t" r="r" b="b"/>
            <a:pathLst>
              <a:path w="2872454" h="796871">
                <a:moveTo>
                  <a:pt x="0" y="0"/>
                </a:moveTo>
                <a:lnTo>
                  <a:pt x="2872454" y="0"/>
                </a:lnTo>
                <a:lnTo>
                  <a:pt x="2872454" y="796871"/>
                </a:lnTo>
                <a:lnTo>
                  <a:pt x="0" y="796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-111322" y="8184831"/>
            <a:ext cx="18551722" cy="1502302"/>
          </a:xfrm>
          <a:custGeom>
            <a:avLst/>
            <a:gdLst/>
            <a:ahLst/>
            <a:cxnLst/>
            <a:rect l="l" t="t" r="r" b="b"/>
            <a:pathLst>
              <a:path w="18421093" h="1502302">
                <a:moveTo>
                  <a:pt x="0" y="0"/>
                </a:moveTo>
                <a:lnTo>
                  <a:pt x="18421093" y="0"/>
                </a:lnTo>
                <a:lnTo>
                  <a:pt x="18421093" y="1502302"/>
                </a:lnTo>
                <a:lnTo>
                  <a:pt x="0" y="15023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4" name="Freeform 4"/>
          <p:cNvSpPr/>
          <p:nvPr/>
        </p:nvSpPr>
        <p:spPr>
          <a:xfrm>
            <a:off x="4204002" y="528199"/>
            <a:ext cx="3184874" cy="669874"/>
          </a:xfrm>
          <a:custGeom>
            <a:avLst/>
            <a:gdLst/>
            <a:ahLst/>
            <a:cxnLst/>
            <a:rect l="l" t="t" r="r" b="b"/>
            <a:pathLst>
              <a:path w="3184874" h="669874">
                <a:moveTo>
                  <a:pt x="0" y="0"/>
                </a:moveTo>
                <a:lnTo>
                  <a:pt x="3184874" y="0"/>
                </a:lnTo>
                <a:lnTo>
                  <a:pt x="3184874" y="669875"/>
                </a:lnTo>
                <a:lnTo>
                  <a:pt x="0" y="669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5036315" y="649605"/>
            <a:ext cx="1550641" cy="41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80095" y="670236"/>
            <a:ext cx="1043168" cy="38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Пункты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57710" y="489870"/>
            <a:ext cx="1244490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8"/>
              </a:lnSpc>
            </a:pPr>
            <a:r>
              <a:rPr lang="en-US" sz="3413" b="1" dirty="0">
                <a:solidFill>
                  <a:srgbClr val="FFDE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7154" y="1512303"/>
            <a:ext cx="446880" cy="64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1"/>
              </a:lnSpc>
              <a:spcBef>
                <a:spcPct val="0"/>
              </a:spcBef>
            </a:pPr>
            <a:r>
              <a:rPr lang="en-US" sz="2340" u="none" strike="noStrike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80095" y="1631018"/>
            <a:ext cx="13223403" cy="12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7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НАША КОМАНДА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8064" y="3171415"/>
            <a:ext cx="428692" cy="64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1"/>
              </a:lnSpc>
              <a:spcBef>
                <a:spcPct val="0"/>
              </a:spcBef>
            </a:pPr>
            <a:r>
              <a:rPr lang="en-US" sz="2340" u="none" strike="noStrike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8804" y="4814859"/>
            <a:ext cx="575229" cy="64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1"/>
              </a:lnSpc>
              <a:spcBef>
                <a:spcPct val="0"/>
              </a:spcBef>
            </a:pPr>
            <a:r>
              <a:rPr lang="en-US" sz="2340" u="none" strike="noStrike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/12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5823" y="6458293"/>
            <a:ext cx="834283" cy="64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1"/>
              </a:lnSpc>
              <a:spcBef>
                <a:spcPct val="0"/>
              </a:spcBef>
            </a:pPr>
            <a:r>
              <a:rPr lang="en-US" sz="2340" u="none" strike="noStrike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/16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9254" y="8549402"/>
            <a:ext cx="554779" cy="189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70"/>
              </a:lnSpc>
              <a:spcBef>
                <a:spcPct val="0"/>
              </a:spcBef>
            </a:pPr>
            <a:r>
              <a:rPr lang="en-US" sz="2340" u="none" strike="noStrik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/19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40427" y="3314290"/>
            <a:ext cx="5448449" cy="12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7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ПРОБЛЕМА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40427" y="4957734"/>
            <a:ext cx="7616279" cy="12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7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НАШЕ РЕШЕНИЕ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80095" y="6637315"/>
            <a:ext cx="13458257" cy="120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7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FFFFFF"/>
                </a:solidFill>
                <a:latin typeface="Klein Heavy"/>
                <a:ea typeface="Klein Heavy"/>
                <a:cs typeface="Klein Heavy"/>
                <a:sym typeface="Klein Heavy"/>
              </a:rPr>
              <a:t>СКРИНКАСТ ПРОЕКТА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80095" y="8844677"/>
            <a:ext cx="3197423" cy="603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171717"/>
                </a:solidFill>
                <a:latin typeface="Klein Heavy"/>
                <a:ea typeface="Klein Heavy"/>
                <a:cs typeface="Klein Heavy"/>
                <a:sym typeface="Klein Heavy"/>
              </a:rPr>
              <a:t>ИТОГИ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387" y="464696"/>
            <a:ext cx="3162567" cy="796871"/>
          </a:xfrm>
          <a:custGeom>
            <a:avLst/>
            <a:gdLst/>
            <a:ahLst/>
            <a:cxnLst/>
            <a:rect l="l" t="t" r="r" b="b"/>
            <a:pathLst>
              <a:path w="3162567" h="796871">
                <a:moveTo>
                  <a:pt x="0" y="0"/>
                </a:moveTo>
                <a:lnTo>
                  <a:pt x="3162567" y="0"/>
                </a:lnTo>
                <a:lnTo>
                  <a:pt x="3162567" y="796871"/>
                </a:lnTo>
                <a:lnTo>
                  <a:pt x="0" y="796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1101300" y="4110695"/>
            <a:ext cx="4951171" cy="5828319"/>
          </a:xfrm>
          <a:custGeom>
            <a:avLst/>
            <a:gdLst/>
            <a:ahLst/>
            <a:cxnLst/>
            <a:rect l="l" t="t" r="r" b="b"/>
            <a:pathLst>
              <a:path w="4951171" h="5828319">
                <a:moveTo>
                  <a:pt x="0" y="0"/>
                </a:moveTo>
                <a:lnTo>
                  <a:pt x="4951171" y="0"/>
                </a:lnTo>
                <a:lnTo>
                  <a:pt x="4951171" y="5828319"/>
                </a:lnTo>
                <a:lnTo>
                  <a:pt x="0" y="58283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Freeform 4"/>
          <p:cNvSpPr/>
          <p:nvPr/>
        </p:nvSpPr>
        <p:spPr>
          <a:xfrm>
            <a:off x="4289727" y="528199"/>
            <a:ext cx="3184874" cy="669874"/>
          </a:xfrm>
          <a:custGeom>
            <a:avLst/>
            <a:gdLst/>
            <a:ahLst/>
            <a:cxnLst/>
            <a:rect l="l" t="t" r="r" b="b"/>
            <a:pathLst>
              <a:path w="3184874" h="669874">
                <a:moveTo>
                  <a:pt x="0" y="0"/>
                </a:moveTo>
                <a:lnTo>
                  <a:pt x="3184874" y="0"/>
                </a:lnTo>
                <a:lnTo>
                  <a:pt x="3184874" y="669875"/>
                </a:lnTo>
                <a:lnTo>
                  <a:pt x="0" y="669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Freeform 5"/>
          <p:cNvSpPr/>
          <p:nvPr/>
        </p:nvSpPr>
        <p:spPr>
          <a:xfrm>
            <a:off x="6668414" y="3754355"/>
            <a:ext cx="5167227" cy="6084903"/>
          </a:xfrm>
          <a:custGeom>
            <a:avLst/>
            <a:gdLst/>
            <a:ahLst/>
            <a:cxnLst/>
            <a:rect l="l" t="t" r="r" b="b"/>
            <a:pathLst>
              <a:path w="5167227" h="6084903">
                <a:moveTo>
                  <a:pt x="0" y="0"/>
                </a:moveTo>
                <a:lnTo>
                  <a:pt x="5167227" y="0"/>
                </a:lnTo>
                <a:lnTo>
                  <a:pt x="5167227" y="6084903"/>
                </a:lnTo>
                <a:lnTo>
                  <a:pt x="0" y="60849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Freeform 6"/>
          <p:cNvSpPr/>
          <p:nvPr/>
        </p:nvSpPr>
        <p:spPr>
          <a:xfrm>
            <a:off x="12371632" y="4110695"/>
            <a:ext cx="4951171" cy="5828319"/>
          </a:xfrm>
          <a:custGeom>
            <a:avLst/>
            <a:gdLst/>
            <a:ahLst/>
            <a:cxnLst/>
            <a:rect l="l" t="t" r="r" b="b"/>
            <a:pathLst>
              <a:path w="4951171" h="5828319">
                <a:moveTo>
                  <a:pt x="0" y="0"/>
                </a:moveTo>
                <a:lnTo>
                  <a:pt x="4951171" y="0"/>
                </a:lnTo>
                <a:lnTo>
                  <a:pt x="4951171" y="5828319"/>
                </a:lnTo>
                <a:lnTo>
                  <a:pt x="0" y="58283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TextBox 7"/>
          <p:cNvSpPr txBox="1"/>
          <p:nvPr/>
        </p:nvSpPr>
        <p:spPr>
          <a:xfrm>
            <a:off x="5122040" y="649605"/>
            <a:ext cx="1550641" cy="41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80095" y="670236"/>
            <a:ext cx="1298753" cy="38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Развитие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95984" y="4311485"/>
            <a:ext cx="2803961" cy="42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8"/>
              </a:lnSpc>
            </a:pPr>
            <a:r>
              <a:rPr lang="en-US" sz="2709">
                <a:solidFill>
                  <a:srgbClr val="292929"/>
                </a:solidFill>
                <a:latin typeface="Noto Sans"/>
                <a:ea typeface="Noto Sans"/>
                <a:cs typeface="Noto Sans"/>
                <a:sym typeface="Noto Sans"/>
              </a:rPr>
              <a:t>МЕТОДОЛОГИЯ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12673" y="4662120"/>
            <a:ext cx="2521528" cy="42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8"/>
              </a:lnSpc>
            </a:pPr>
            <a:r>
              <a:rPr lang="en-US" sz="2709">
                <a:solidFill>
                  <a:srgbClr val="FFBD59"/>
                </a:solidFill>
                <a:latin typeface="Noto Sans"/>
                <a:ea typeface="Noto Sans"/>
                <a:cs typeface="Noto Sans"/>
                <a:sym typeface="Noto Sans"/>
              </a:rPr>
              <a:t>ТЕХНОЛОГИЯ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57710" y="489871"/>
            <a:ext cx="1396889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8"/>
              </a:lnSpc>
            </a:pPr>
            <a:r>
              <a:rPr lang="en-US" sz="3413" b="1" dirty="0">
                <a:solidFill>
                  <a:srgbClr val="FFDE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11998" y="1509336"/>
            <a:ext cx="13607663" cy="2707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98"/>
              </a:lnSpc>
            </a:pPr>
            <a:r>
              <a:rPr lang="en-US" sz="7784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Научная Достоверность</a:t>
            </a:r>
          </a:p>
          <a:p>
            <a:pPr algn="ctr">
              <a:lnSpc>
                <a:spcPts val="10899"/>
              </a:lnSpc>
            </a:pPr>
            <a:endParaRPr lang="en-US" sz="7784" b="1">
              <a:solidFill>
                <a:srgbClr val="FFFFFF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085975" y="4597722"/>
            <a:ext cx="3172035" cy="1243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709">
                <a:solidFill>
                  <a:srgbClr val="FFBD59"/>
                </a:solidFill>
                <a:latin typeface="Noto Sans"/>
                <a:ea typeface="Noto Sans"/>
                <a:cs typeface="Noto Sans"/>
                <a:sym typeface="Noto Sans"/>
              </a:rPr>
              <a:t>ИСТОЧНИК ДАННЫХ</a:t>
            </a:r>
          </a:p>
          <a:p>
            <a:pPr algn="l">
              <a:lnSpc>
                <a:spcPts val="3234"/>
              </a:lnSpc>
            </a:pPr>
            <a:endParaRPr lang="en-US" sz="2709">
              <a:solidFill>
                <a:srgbClr val="FFBD5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97635" y="6098286"/>
            <a:ext cx="4273677" cy="259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99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Мы используем только данные со спутников </a:t>
            </a:r>
            <a:r>
              <a:rPr lang="en-US" sz="19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Sentinel-2 (ESA)</a:t>
            </a:r>
            <a:r>
              <a:rPr lang="en-US" sz="1999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 — мирового золотого стандарта для агромониторинга с разрешением </a:t>
            </a:r>
            <a:r>
              <a:rPr lang="en-US" sz="19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10 метров</a:t>
            </a:r>
            <a:r>
              <a:rPr lang="en-US" sz="1999">
                <a:solidFill>
                  <a:srgbClr val="EDEDED"/>
                </a:solidFill>
                <a:latin typeface="Open Sauce"/>
                <a:ea typeface="Open Sauce"/>
                <a:cs typeface="Open Sauce"/>
                <a:sym typeface="Open Sauce"/>
              </a:rPr>
              <a:t> и актуальностью до 5 дней.</a:t>
            </a:r>
          </a:p>
          <a:p>
            <a:pPr algn="l">
              <a:lnSpc>
                <a:spcPts val="2925"/>
              </a:lnSpc>
            </a:pPr>
            <a:endParaRPr lang="en-US" sz="1999">
              <a:solidFill>
                <a:srgbClr val="EDEDE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082066" y="5878878"/>
            <a:ext cx="4067527" cy="296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Наши расчеты </a:t>
            </a:r>
            <a:r>
              <a:rPr lang="en-US" sz="1999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(NDVI, EVI, SAVI, NDWI)</a:t>
            </a:r>
            <a:r>
              <a:rPr lang="en-US" sz="19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основаны на </a:t>
            </a:r>
            <a:r>
              <a:rPr lang="en-US" sz="1999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канонических математических формулах</a:t>
            </a:r>
            <a:r>
              <a:rPr lang="en-US" sz="19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, используемых агрономами и учеными по всему миру. Мы не изобретаем свои метрики.</a:t>
            </a:r>
          </a:p>
          <a:p>
            <a:pPr algn="l">
              <a:lnSpc>
                <a:spcPts val="2925"/>
              </a:lnSpc>
            </a:pPr>
            <a:endParaRPr lang="en-US" sz="1999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904060" y="5912548"/>
            <a:ext cx="3934158" cy="2219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99">
                <a:solidFill>
                  <a:srgbClr val="EDEDED"/>
                </a:solidFill>
                <a:latin typeface="Noto Sans"/>
                <a:ea typeface="Noto Sans"/>
                <a:cs typeface="Noto Sans"/>
                <a:sym typeface="Noto Sans"/>
              </a:rPr>
              <a:t>Для обработки геоданных мы используем библиотеки </a:t>
            </a:r>
            <a:r>
              <a:rPr lang="en-US" sz="1999">
                <a:solidFill>
                  <a:srgbClr val="FFDE59"/>
                </a:solidFill>
                <a:latin typeface="Noto Sans"/>
                <a:ea typeface="Noto Sans"/>
                <a:cs typeface="Noto Sans"/>
                <a:sym typeface="Noto Sans"/>
              </a:rPr>
              <a:t>GDAL и Rasterio</a:t>
            </a:r>
            <a:r>
              <a:rPr lang="en-US" sz="1999">
                <a:solidFill>
                  <a:srgbClr val="EDEDED"/>
                </a:solidFill>
                <a:latin typeface="Noto Sans"/>
                <a:ea typeface="Noto Sans"/>
                <a:cs typeface="Noto Sans"/>
                <a:sym typeface="Noto Sans"/>
              </a:rPr>
              <a:t> — самый надежный и проверенный стек в индустрии геоаналитики.</a:t>
            </a:r>
          </a:p>
          <a:p>
            <a:pPr algn="l">
              <a:lnSpc>
                <a:spcPts val="2925"/>
              </a:lnSpc>
            </a:pPr>
            <a:endParaRPr lang="en-US" sz="1999">
              <a:solidFill>
                <a:srgbClr val="EDEDE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264" y="464696"/>
            <a:ext cx="2120417" cy="796871"/>
          </a:xfrm>
          <a:custGeom>
            <a:avLst/>
            <a:gdLst/>
            <a:ahLst/>
            <a:cxnLst/>
            <a:rect l="l" t="t" r="r" b="b"/>
            <a:pathLst>
              <a:path w="2120417" h="796871">
                <a:moveTo>
                  <a:pt x="0" y="0"/>
                </a:moveTo>
                <a:lnTo>
                  <a:pt x="2120417" y="0"/>
                </a:lnTo>
                <a:lnTo>
                  <a:pt x="2120417" y="796871"/>
                </a:lnTo>
                <a:lnTo>
                  <a:pt x="0" y="796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3241977" y="528199"/>
            <a:ext cx="3184874" cy="669874"/>
          </a:xfrm>
          <a:custGeom>
            <a:avLst/>
            <a:gdLst/>
            <a:ahLst/>
            <a:cxnLst/>
            <a:rect l="l" t="t" r="r" b="b"/>
            <a:pathLst>
              <a:path w="3184874" h="669874">
                <a:moveTo>
                  <a:pt x="0" y="0"/>
                </a:moveTo>
                <a:lnTo>
                  <a:pt x="3184874" y="0"/>
                </a:lnTo>
                <a:lnTo>
                  <a:pt x="3184874" y="669875"/>
                </a:lnTo>
                <a:lnTo>
                  <a:pt x="0" y="669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Freeform 4"/>
          <p:cNvSpPr/>
          <p:nvPr/>
        </p:nvSpPr>
        <p:spPr>
          <a:xfrm>
            <a:off x="8013832" y="1950755"/>
            <a:ext cx="9367180" cy="1689268"/>
          </a:xfrm>
          <a:custGeom>
            <a:avLst/>
            <a:gdLst/>
            <a:ahLst/>
            <a:cxnLst/>
            <a:rect l="l" t="t" r="r" b="b"/>
            <a:pathLst>
              <a:path w="9367180" h="1689268">
                <a:moveTo>
                  <a:pt x="0" y="0"/>
                </a:moveTo>
                <a:lnTo>
                  <a:pt x="9367180" y="0"/>
                </a:lnTo>
                <a:lnTo>
                  <a:pt x="9367180" y="1689269"/>
                </a:lnTo>
                <a:lnTo>
                  <a:pt x="0" y="16892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1028700" y="1679241"/>
            <a:ext cx="7901026" cy="2084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35"/>
              </a:lnSpc>
            </a:pPr>
            <a:r>
              <a:rPr lang="en-US" sz="5642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Чек-Лист по критериям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4864580"/>
            <a:ext cx="16352312" cy="1250552"/>
            <a:chOff x="0" y="0"/>
            <a:chExt cx="21803083" cy="1667402"/>
          </a:xfrm>
        </p:grpSpPr>
        <p:grpSp>
          <p:nvGrpSpPr>
            <p:cNvPr id="7" name="Group 7"/>
            <p:cNvGrpSpPr/>
            <p:nvPr/>
          </p:nvGrpSpPr>
          <p:grpSpPr>
            <a:xfrm>
              <a:off x="8794556" y="0"/>
              <a:ext cx="4078930" cy="1667402"/>
              <a:chOff x="0" y="0"/>
              <a:chExt cx="867854" cy="35476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67854" cy="354765"/>
              </a:xfrm>
              <a:custGeom>
                <a:avLst/>
                <a:gdLst/>
                <a:ahLst/>
                <a:cxnLst/>
                <a:rect l="l" t="t" r="r" b="b"/>
                <a:pathLst>
                  <a:path w="867854" h="354765">
                    <a:moveTo>
                      <a:pt x="119825" y="0"/>
                    </a:moveTo>
                    <a:lnTo>
                      <a:pt x="748030" y="0"/>
                    </a:lnTo>
                    <a:cubicBezTo>
                      <a:pt x="779809" y="0"/>
                      <a:pt x="810287" y="12624"/>
                      <a:pt x="832759" y="35096"/>
                    </a:cubicBezTo>
                    <a:cubicBezTo>
                      <a:pt x="855230" y="57567"/>
                      <a:pt x="867854" y="88045"/>
                      <a:pt x="867854" y="119825"/>
                    </a:cubicBezTo>
                    <a:lnTo>
                      <a:pt x="867854" y="234941"/>
                    </a:lnTo>
                    <a:cubicBezTo>
                      <a:pt x="867854" y="266720"/>
                      <a:pt x="855230" y="297198"/>
                      <a:pt x="832759" y="319669"/>
                    </a:cubicBezTo>
                    <a:cubicBezTo>
                      <a:pt x="810287" y="342141"/>
                      <a:pt x="779809" y="354765"/>
                      <a:pt x="748030" y="354765"/>
                    </a:cubicBezTo>
                    <a:lnTo>
                      <a:pt x="119825" y="354765"/>
                    </a:lnTo>
                    <a:cubicBezTo>
                      <a:pt x="88045" y="354765"/>
                      <a:pt x="57567" y="342141"/>
                      <a:pt x="35096" y="319669"/>
                    </a:cubicBezTo>
                    <a:cubicBezTo>
                      <a:pt x="12624" y="297198"/>
                      <a:pt x="0" y="266720"/>
                      <a:pt x="0" y="234941"/>
                    </a:cubicBezTo>
                    <a:lnTo>
                      <a:pt x="0" y="119825"/>
                    </a:lnTo>
                    <a:cubicBezTo>
                      <a:pt x="0" y="88045"/>
                      <a:pt x="12624" y="57567"/>
                      <a:pt x="35096" y="35096"/>
                    </a:cubicBezTo>
                    <a:cubicBezTo>
                      <a:pt x="57567" y="12624"/>
                      <a:pt x="88045" y="0"/>
                      <a:pt x="119825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867854" cy="3928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76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397278" y="0"/>
              <a:ext cx="4078930" cy="1667402"/>
              <a:chOff x="0" y="0"/>
              <a:chExt cx="867854" cy="35476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67854" cy="354765"/>
              </a:xfrm>
              <a:custGeom>
                <a:avLst/>
                <a:gdLst/>
                <a:ahLst/>
                <a:cxnLst/>
                <a:rect l="l" t="t" r="r" b="b"/>
                <a:pathLst>
                  <a:path w="867854" h="354765">
                    <a:moveTo>
                      <a:pt x="119825" y="0"/>
                    </a:moveTo>
                    <a:lnTo>
                      <a:pt x="748030" y="0"/>
                    </a:lnTo>
                    <a:cubicBezTo>
                      <a:pt x="779809" y="0"/>
                      <a:pt x="810287" y="12624"/>
                      <a:pt x="832759" y="35096"/>
                    </a:cubicBezTo>
                    <a:cubicBezTo>
                      <a:pt x="855230" y="57567"/>
                      <a:pt x="867854" y="88045"/>
                      <a:pt x="867854" y="119825"/>
                    </a:cubicBezTo>
                    <a:lnTo>
                      <a:pt x="867854" y="234941"/>
                    </a:lnTo>
                    <a:cubicBezTo>
                      <a:pt x="867854" y="266720"/>
                      <a:pt x="855230" y="297198"/>
                      <a:pt x="832759" y="319669"/>
                    </a:cubicBezTo>
                    <a:cubicBezTo>
                      <a:pt x="810287" y="342141"/>
                      <a:pt x="779809" y="354765"/>
                      <a:pt x="748030" y="354765"/>
                    </a:cubicBezTo>
                    <a:lnTo>
                      <a:pt x="119825" y="354765"/>
                    </a:lnTo>
                    <a:cubicBezTo>
                      <a:pt x="88045" y="354765"/>
                      <a:pt x="57567" y="342141"/>
                      <a:pt x="35096" y="319669"/>
                    </a:cubicBezTo>
                    <a:cubicBezTo>
                      <a:pt x="12624" y="297198"/>
                      <a:pt x="0" y="266720"/>
                      <a:pt x="0" y="234941"/>
                    </a:cubicBezTo>
                    <a:lnTo>
                      <a:pt x="0" y="119825"/>
                    </a:lnTo>
                    <a:cubicBezTo>
                      <a:pt x="0" y="88045"/>
                      <a:pt x="12624" y="57567"/>
                      <a:pt x="35096" y="35096"/>
                    </a:cubicBezTo>
                    <a:cubicBezTo>
                      <a:pt x="57567" y="12624"/>
                      <a:pt x="88045" y="0"/>
                      <a:pt x="119825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867854" cy="3928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76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4078930" cy="1667402"/>
              <a:chOff x="0" y="0"/>
              <a:chExt cx="867854" cy="35476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67854" cy="354765"/>
              </a:xfrm>
              <a:custGeom>
                <a:avLst/>
                <a:gdLst/>
                <a:ahLst/>
                <a:cxnLst/>
                <a:rect l="l" t="t" r="r" b="b"/>
                <a:pathLst>
                  <a:path w="867854" h="354765">
                    <a:moveTo>
                      <a:pt x="119825" y="0"/>
                    </a:moveTo>
                    <a:lnTo>
                      <a:pt x="748030" y="0"/>
                    </a:lnTo>
                    <a:cubicBezTo>
                      <a:pt x="779809" y="0"/>
                      <a:pt x="810287" y="12624"/>
                      <a:pt x="832759" y="35096"/>
                    </a:cubicBezTo>
                    <a:cubicBezTo>
                      <a:pt x="855230" y="57567"/>
                      <a:pt x="867854" y="88045"/>
                      <a:pt x="867854" y="119825"/>
                    </a:cubicBezTo>
                    <a:lnTo>
                      <a:pt x="867854" y="234941"/>
                    </a:lnTo>
                    <a:cubicBezTo>
                      <a:pt x="867854" y="266720"/>
                      <a:pt x="855230" y="297198"/>
                      <a:pt x="832759" y="319669"/>
                    </a:cubicBezTo>
                    <a:cubicBezTo>
                      <a:pt x="810287" y="342141"/>
                      <a:pt x="779809" y="354765"/>
                      <a:pt x="748030" y="354765"/>
                    </a:cubicBezTo>
                    <a:lnTo>
                      <a:pt x="119825" y="354765"/>
                    </a:lnTo>
                    <a:cubicBezTo>
                      <a:pt x="88045" y="354765"/>
                      <a:pt x="57567" y="342141"/>
                      <a:pt x="35096" y="319669"/>
                    </a:cubicBezTo>
                    <a:cubicBezTo>
                      <a:pt x="12624" y="297198"/>
                      <a:pt x="0" y="266720"/>
                      <a:pt x="0" y="234941"/>
                    </a:cubicBezTo>
                    <a:lnTo>
                      <a:pt x="0" y="119825"/>
                    </a:lnTo>
                    <a:cubicBezTo>
                      <a:pt x="0" y="88045"/>
                      <a:pt x="12624" y="57567"/>
                      <a:pt x="35096" y="35096"/>
                    </a:cubicBezTo>
                    <a:cubicBezTo>
                      <a:pt x="57567" y="12624"/>
                      <a:pt x="88045" y="0"/>
                      <a:pt x="119825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867854" cy="3928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76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7724153" y="0"/>
              <a:ext cx="4078930" cy="1667402"/>
              <a:chOff x="0" y="0"/>
              <a:chExt cx="867854" cy="35476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67854" cy="354765"/>
              </a:xfrm>
              <a:custGeom>
                <a:avLst/>
                <a:gdLst/>
                <a:ahLst/>
                <a:cxnLst/>
                <a:rect l="l" t="t" r="r" b="b"/>
                <a:pathLst>
                  <a:path w="867854" h="354765">
                    <a:moveTo>
                      <a:pt x="119825" y="0"/>
                    </a:moveTo>
                    <a:lnTo>
                      <a:pt x="748030" y="0"/>
                    </a:lnTo>
                    <a:cubicBezTo>
                      <a:pt x="779809" y="0"/>
                      <a:pt x="810287" y="12624"/>
                      <a:pt x="832759" y="35096"/>
                    </a:cubicBezTo>
                    <a:cubicBezTo>
                      <a:pt x="855230" y="57567"/>
                      <a:pt x="867854" y="88045"/>
                      <a:pt x="867854" y="119825"/>
                    </a:cubicBezTo>
                    <a:lnTo>
                      <a:pt x="867854" y="234941"/>
                    </a:lnTo>
                    <a:cubicBezTo>
                      <a:pt x="867854" y="266720"/>
                      <a:pt x="855230" y="297198"/>
                      <a:pt x="832759" y="319669"/>
                    </a:cubicBezTo>
                    <a:cubicBezTo>
                      <a:pt x="810287" y="342141"/>
                      <a:pt x="779809" y="354765"/>
                      <a:pt x="748030" y="354765"/>
                    </a:cubicBezTo>
                    <a:lnTo>
                      <a:pt x="119825" y="354765"/>
                    </a:lnTo>
                    <a:cubicBezTo>
                      <a:pt x="88045" y="354765"/>
                      <a:pt x="57567" y="342141"/>
                      <a:pt x="35096" y="319669"/>
                    </a:cubicBezTo>
                    <a:cubicBezTo>
                      <a:pt x="12624" y="297198"/>
                      <a:pt x="0" y="266720"/>
                      <a:pt x="0" y="234941"/>
                    </a:cubicBezTo>
                    <a:lnTo>
                      <a:pt x="0" y="119825"/>
                    </a:lnTo>
                    <a:cubicBezTo>
                      <a:pt x="0" y="88045"/>
                      <a:pt x="12624" y="57567"/>
                      <a:pt x="35096" y="35096"/>
                    </a:cubicBezTo>
                    <a:cubicBezTo>
                      <a:pt x="57567" y="12624"/>
                      <a:pt x="88045" y="0"/>
                      <a:pt x="119825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867854" cy="3928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76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3193211" y="0"/>
              <a:ext cx="4078930" cy="1667402"/>
              <a:chOff x="0" y="0"/>
              <a:chExt cx="867854" cy="35476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67854" cy="354765"/>
              </a:xfrm>
              <a:custGeom>
                <a:avLst/>
                <a:gdLst/>
                <a:ahLst/>
                <a:cxnLst/>
                <a:rect l="l" t="t" r="r" b="b"/>
                <a:pathLst>
                  <a:path w="867854" h="354765">
                    <a:moveTo>
                      <a:pt x="119825" y="0"/>
                    </a:moveTo>
                    <a:lnTo>
                      <a:pt x="748030" y="0"/>
                    </a:lnTo>
                    <a:cubicBezTo>
                      <a:pt x="779809" y="0"/>
                      <a:pt x="810287" y="12624"/>
                      <a:pt x="832759" y="35096"/>
                    </a:cubicBezTo>
                    <a:cubicBezTo>
                      <a:pt x="855230" y="57567"/>
                      <a:pt x="867854" y="88045"/>
                      <a:pt x="867854" y="119825"/>
                    </a:cubicBezTo>
                    <a:lnTo>
                      <a:pt x="867854" y="234941"/>
                    </a:lnTo>
                    <a:cubicBezTo>
                      <a:pt x="867854" y="266720"/>
                      <a:pt x="855230" y="297198"/>
                      <a:pt x="832759" y="319669"/>
                    </a:cubicBezTo>
                    <a:cubicBezTo>
                      <a:pt x="810287" y="342141"/>
                      <a:pt x="779809" y="354765"/>
                      <a:pt x="748030" y="354765"/>
                    </a:cubicBezTo>
                    <a:lnTo>
                      <a:pt x="119825" y="354765"/>
                    </a:lnTo>
                    <a:cubicBezTo>
                      <a:pt x="88045" y="354765"/>
                      <a:pt x="57567" y="342141"/>
                      <a:pt x="35096" y="319669"/>
                    </a:cubicBezTo>
                    <a:cubicBezTo>
                      <a:pt x="12624" y="297198"/>
                      <a:pt x="0" y="266720"/>
                      <a:pt x="0" y="234941"/>
                    </a:cubicBezTo>
                    <a:lnTo>
                      <a:pt x="0" y="119825"/>
                    </a:lnTo>
                    <a:cubicBezTo>
                      <a:pt x="0" y="88045"/>
                      <a:pt x="12624" y="57567"/>
                      <a:pt x="35096" y="35096"/>
                    </a:cubicBezTo>
                    <a:cubicBezTo>
                      <a:pt x="57567" y="12624"/>
                      <a:pt x="88045" y="0"/>
                      <a:pt x="119825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867854" cy="3928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76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502927" y="307166"/>
              <a:ext cx="2926302" cy="1014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5"/>
                </a:lnSpc>
              </a:pPr>
              <a:r>
                <a:rPr lang="en-US" sz="223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Научная достоверность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63076" y="307166"/>
              <a:ext cx="2429632" cy="1014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5"/>
                </a:lnSpc>
              </a:pPr>
              <a:r>
                <a:rPr lang="en-US" sz="223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Техническая реализация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72605" y="307166"/>
              <a:ext cx="4122832" cy="1014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5"/>
                </a:lnSpc>
              </a:pPr>
              <a:r>
                <a:rPr lang="en-US" sz="223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Готовность прототипа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631141" y="307166"/>
              <a:ext cx="3203069" cy="1014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5"/>
                </a:lnSpc>
              </a:pPr>
              <a:r>
                <a:rPr lang="en-US" sz="223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Инновация и оригинальность 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612367" y="307166"/>
              <a:ext cx="2302502" cy="1014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5"/>
                </a:lnSpc>
              </a:pPr>
              <a:r>
                <a:rPr lang="en-US" sz="223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Потенциал для Бизнеса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8700" y="6435495"/>
            <a:ext cx="3045590" cy="2822805"/>
            <a:chOff x="0" y="0"/>
            <a:chExt cx="802131" cy="74345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02131" cy="743455"/>
            </a:xfrm>
            <a:custGeom>
              <a:avLst/>
              <a:gdLst/>
              <a:ahLst/>
              <a:cxnLst/>
              <a:rect l="l" t="t" r="r" b="b"/>
              <a:pathLst>
                <a:path w="802131" h="743455">
                  <a:moveTo>
                    <a:pt x="129642" y="0"/>
                  </a:moveTo>
                  <a:lnTo>
                    <a:pt x="672488" y="0"/>
                  </a:lnTo>
                  <a:cubicBezTo>
                    <a:pt x="706872" y="0"/>
                    <a:pt x="739847" y="13659"/>
                    <a:pt x="764159" y="37971"/>
                  </a:cubicBezTo>
                  <a:cubicBezTo>
                    <a:pt x="788472" y="62284"/>
                    <a:pt x="802131" y="95259"/>
                    <a:pt x="802131" y="129642"/>
                  </a:cubicBezTo>
                  <a:lnTo>
                    <a:pt x="802131" y="613812"/>
                  </a:lnTo>
                  <a:cubicBezTo>
                    <a:pt x="802131" y="685412"/>
                    <a:pt x="744088" y="743455"/>
                    <a:pt x="672488" y="743455"/>
                  </a:cubicBezTo>
                  <a:lnTo>
                    <a:pt x="129642" y="743455"/>
                  </a:lnTo>
                  <a:cubicBezTo>
                    <a:pt x="58043" y="743455"/>
                    <a:pt x="0" y="685412"/>
                    <a:pt x="0" y="613812"/>
                  </a:cubicBezTo>
                  <a:lnTo>
                    <a:pt x="0" y="129642"/>
                  </a:lnTo>
                  <a:cubicBezTo>
                    <a:pt x="0" y="58043"/>
                    <a:pt x="58043" y="0"/>
                    <a:pt x="129642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802131" cy="781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6357710" y="489871"/>
            <a:ext cx="1396889" cy="575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8"/>
              </a:lnSpc>
            </a:pPr>
            <a:r>
              <a:rPr lang="en-US" sz="3413" b="1" dirty="0">
                <a:solidFill>
                  <a:srgbClr val="FFDE59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80095" y="630555"/>
            <a:ext cx="813787" cy="38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1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Стек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074290" y="630555"/>
            <a:ext cx="1550641" cy="437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199">
                <a:solidFill>
                  <a:srgbClr val="FFDE59"/>
                </a:solidFill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4338694" y="6435495"/>
            <a:ext cx="3045590" cy="2822805"/>
            <a:chOff x="0" y="0"/>
            <a:chExt cx="802131" cy="74345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02131" cy="743455"/>
            </a:xfrm>
            <a:custGeom>
              <a:avLst/>
              <a:gdLst/>
              <a:ahLst/>
              <a:cxnLst/>
              <a:rect l="l" t="t" r="r" b="b"/>
              <a:pathLst>
                <a:path w="802131" h="743455">
                  <a:moveTo>
                    <a:pt x="129642" y="0"/>
                  </a:moveTo>
                  <a:lnTo>
                    <a:pt x="672488" y="0"/>
                  </a:lnTo>
                  <a:cubicBezTo>
                    <a:pt x="706872" y="0"/>
                    <a:pt x="739847" y="13659"/>
                    <a:pt x="764159" y="37971"/>
                  </a:cubicBezTo>
                  <a:cubicBezTo>
                    <a:pt x="788472" y="62284"/>
                    <a:pt x="802131" y="95259"/>
                    <a:pt x="802131" y="129642"/>
                  </a:cubicBezTo>
                  <a:lnTo>
                    <a:pt x="802131" y="613812"/>
                  </a:lnTo>
                  <a:cubicBezTo>
                    <a:pt x="802131" y="685412"/>
                    <a:pt x="744088" y="743455"/>
                    <a:pt x="672488" y="743455"/>
                  </a:cubicBezTo>
                  <a:lnTo>
                    <a:pt x="129642" y="743455"/>
                  </a:lnTo>
                  <a:cubicBezTo>
                    <a:pt x="58043" y="743455"/>
                    <a:pt x="0" y="685412"/>
                    <a:pt x="0" y="613812"/>
                  </a:cubicBezTo>
                  <a:lnTo>
                    <a:pt x="0" y="129642"/>
                  </a:lnTo>
                  <a:cubicBezTo>
                    <a:pt x="0" y="58043"/>
                    <a:pt x="58043" y="0"/>
                    <a:pt x="129642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802131" cy="781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5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50985" y="6435495"/>
            <a:ext cx="3045590" cy="2822805"/>
            <a:chOff x="0" y="0"/>
            <a:chExt cx="802131" cy="74345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02131" cy="743455"/>
            </a:xfrm>
            <a:custGeom>
              <a:avLst/>
              <a:gdLst/>
              <a:ahLst/>
              <a:cxnLst/>
              <a:rect l="l" t="t" r="r" b="b"/>
              <a:pathLst>
                <a:path w="802131" h="743455">
                  <a:moveTo>
                    <a:pt x="129642" y="0"/>
                  </a:moveTo>
                  <a:lnTo>
                    <a:pt x="672488" y="0"/>
                  </a:lnTo>
                  <a:cubicBezTo>
                    <a:pt x="706872" y="0"/>
                    <a:pt x="739847" y="13659"/>
                    <a:pt x="764159" y="37971"/>
                  </a:cubicBezTo>
                  <a:cubicBezTo>
                    <a:pt x="788472" y="62284"/>
                    <a:pt x="802131" y="95259"/>
                    <a:pt x="802131" y="129642"/>
                  </a:cubicBezTo>
                  <a:lnTo>
                    <a:pt x="802131" y="613812"/>
                  </a:lnTo>
                  <a:cubicBezTo>
                    <a:pt x="802131" y="685412"/>
                    <a:pt x="744088" y="743455"/>
                    <a:pt x="672488" y="743455"/>
                  </a:cubicBezTo>
                  <a:lnTo>
                    <a:pt x="129642" y="743455"/>
                  </a:lnTo>
                  <a:cubicBezTo>
                    <a:pt x="58043" y="743455"/>
                    <a:pt x="0" y="685412"/>
                    <a:pt x="0" y="613812"/>
                  </a:cubicBezTo>
                  <a:lnTo>
                    <a:pt x="0" y="129642"/>
                  </a:lnTo>
                  <a:cubicBezTo>
                    <a:pt x="0" y="58043"/>
                    <a:pt x="58043" y="0"/>
                    <a:pt x="129642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802131" cy="781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5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963275" y="6435495"/>
            <a:ext cx="3045590" cy="2822805"/>
            <a:chOff x="0" y="0"/>
            <a:chExt cx="802131" cy="74345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02131" cy="743455"/>
            </a:xfrm>
            <a:custGeom>
              <a:avLst/>
              <a:gdLst/>
              <a:ahLst/>
              <a:cxnLst/>
              <a:rect l="l" t="t" r="r" b="b"/>
              <a:pathLst>
                <a:path w="802131" h="743455">
                  <a:moveTo>
                    <a:pt x="129642" y="0"/>
                  </a:moveTo>
                  <a:lnTo>
                    <a:pt x="672488" y="0"/>
                  </a:lnTo>
                  <a:cubicBezTo>
                    <a:pt x="706872" y="0"/>
                    <a:pt x="739847" y="13659"/>
                    <a:pt x="764159" y="37971"/>
                  </a:cubicBezTo>
                  <a:cubicBezTo>
                    <a:pt x="788472" y="62284"/>
                    <a:pt x="802131" y="95259"/>
                    <a:pt x="802131" y="129642"/>
                  </a:cubicBezTo>
                  <a:lnTo>
                    <a:pt x="802131" y="613812"/>
                  </a:lnTo>
                  <a:cubicBezTo>
                    <a:pt x="802131" y="685412"/>
                    <a:pt x="744088" y="743455"/>
                    <a:pt x="672488" y="743455"/>
                  </a:cubicBezTo>
                  <a:lnTo>
                    <a:pt x="129642" y="743455"/>
                  </a:lnTo>
                  <a:cubicBezTo>
                    <a:pt x="58043" y="743455"/>
                    <a:pt x="0" y="685412"/>
                    <a:pt x="0" y="613812"/>
                  </a:cubicBezTo>
                  <a:lnTo>
                    <a:pt x="0" y="129642"/>
                  </a:lnTo>
                  <a:cubicBezTo>
                    <a:pt x="0" y="58043"/>
                    <a:pt x="58043" y="0"/>
                    <a:pt x="129642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802131" cy="781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5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408605" y="6435495"/>
            <a:ext cx="2972407" cy="2822805"/>
            <a:chOff x="0" y="0"/>
            <a:chExt cx="782856" cy="74345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82856" cy="743455"/>
            </a:xfrm>
            <a:custGeom>
              <a:avLst/>
              <a:gdLst/>
              <a:ahLst/>
              <a:cxnLst/>
              <a:rect l="l" t="t" r="r" b="b"/>
              <a:pathLst>
                <a:path w="782856" h="743455">
                  <a:moveTo>
                    <a:pt x="132834" y="0"/>
                  </a:moveTo>
                  <a:lnTo>
                    <a:pt x="650022" y="0"/>
                  </a:lnTo>
                  <a:cubicBezTo>
                    <a:pt x="723384" y="0"/>
                    <a:pt x="782856" y="59472"/>
                    <a:pt x="782856" y="132834"/>
                  </a:cubicBezTo>
                  <a:lnTo>
                    <a:pt x="782856" y="610621"/>
                  </a:lnTo>
                  <a:cubicBezTo>
                    <a:pt x="782856" y="683983"/>
                    <a:pt x="723384" y="743455"/>
                    <a:pt x="650022" y="743455"/>
                  </a:cubicBezTo>
                  <a:lnTo>
                    <a:pt x="132834" y="743455"/>
                  </a:lnTo>
                  <a:cubicBezTo>
                    <a:pt x="59472" y="743455"/>
                    <a:pt x="0" y="683983"/>
                    <a:pt x="0" y="610621"/>
                  </a:cubicBezTo>
                  <a:lnTo>
                    <a:pt x="0" y="132834"/>
                  </a:lnTo>
                  <a:cubicBezTo>
                    <a:pt x="0" y="59472"/>
                    <a:pt x="59472" y="0"/>
                    <a:pt x="132834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782856" cy="781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330663" y="6862400"/>
            <a:ext cx="2446057" cy="1855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8"/>
              </a:lnSpc>
            </a:pPr>
            <a:r>
              <a:rPr lang="en-US" sz="1482">
                <a:solidFill>
                  <a:srgbClr val="EDEDED"/>
                </a:solidFill>
                <a:latin typeface="Noto Sans"/>
                <a:ea typeface="Noto Sans"/>
                <a:cs typeface="Noto Sans"/>
                <a:sym typeface="Noto Sans"/>
              </a:rPr>
              <a:t>Проверенные научные данные (снимки Sentinel-2, индексы NDVI). Контекстный AI-анализ, который превращает данные в практические рекомендации.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642953" y="6862400"/>
            <a:ext cx="2446057" cy="1640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8"/>
              </a:lnSpc>
            </a:pPr>
            <a:r>
              <a:rPr lang="en-US" sz="1482">
                <a:solidFill>
                  <a:srgbClr val="EDEDED"/>
                </a:solidFill>
                <a:latin typeface="Noto Sans"/>
                <a:ea typeface="Noto Sans"/>
                <a:cs typeface="Noto Sans"/>
                <a:sym typeface="Noto Sans"/>
              </a:rPr>
              <a:t>Готовый и стабильный end-to-end сервис. Надежный и масштабируемый стек (Python, FastAPI, GDAL). Код открыт на GitHub.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50751" y="6862400"/>
            <a:ext cx="2446057" cy="191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8"/>
              </a:lnSpc>
            </a:pPr>
            <a:r>
              <a:rPr lang="en-US" sz="1482">
                <a:solidFill>
                  <a:srgbClr val="EDEDED"/>
                </a:solidFill>
                <a:latin typeface="Noto Sans"/>
                <a:ea typeface="Noto Sans"/>
                <a:cs typeface="Noto Sans"/>
                <a:sym typeface="Noto Sans"/>
              </a:rPr>
              <a:t>Продукт полностью функционален и прошел живую демонстрацию. Реализован интуитивный UX/UI с ключевыми функциями (личный кабинет, анализ полей).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292970" y="6724731"/>
            <a:ext cx="2446057" cy="2191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8"/>
              </a:lnSpc>
            </a:pPr>
            <a:r>
              <a:rPr lang="en-US" sz="1482">
                <a:solidFill>
                  <a:srgbClr val="EDEDED"/>
                </a:solidFill>
                <a:latin typeface="Noto Sans"/>
                <a:ea typeface="Noto Sans"/>
                <a:cs typeface="Noto Sans"/>
                <a:sym typeface="Noto Sans"/>
              </a:rPr>
              <a:t>Синергия геоаналитики и больших языковых моделей (LLM). Сервис не просто находит проблему, а работает как AI-ассистент: объясняет причины и предлагает конкретные действия.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671780" y="7000069"/>
            <a:ext cx="2446057" cy="1640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8"/>
              </a:lnSpc>
            </a:pPr>
            <a:r>
              <a:rPr lang="en-US" sz="1482">
                <a:solidFill>
                  <a:srgbClr val="EDEDED"/>
                </a:solidFill>
                <a:latin typeface="Noto Sans"/>
                <a:ea typeface="Noto Sans"/>
                <a:cs typeface="Noto Sans"/>
                <a:sym typeface="Noto Sans"/>
              </a:rPr>
              <a:t>Прототип — это готовое ядро для масштабируемой SaaS-платформы. Четкий путь к коммерциализации через модель подписки.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551" y="-63503"/>
            <a:ext cx="18421093" cy="5365747"/>
          </a:xfrm>
          <a:custGeom>
            <a:avLst/>
            <a:gdLst/>
            <a:ahLst/>
            <a:cxnLst/>
            <a:rect l="l" t="t" r="r" b="b"/>
            <a:pathLst>
              <a:path w="18421093" h="5365747">
                <a:moveTo>
                  <a:pt x="0" y="0"/>
                </a:moveTo>
                <a:lnTo>
                  <a:pt x="18421093" y="0"/>
                </a:lnTo>
                <a:lnTo>
                  <a:pt x="18421093" y="5365747"/>
                </a:lnTo>
                <a:lnTo>
                  <a:pt x="0" y="5365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Freeform 3"/>
          <p:cNvSpPr/>
          <p:nvPr/>
        </p:nvSpPr>
        <p:spPr>
          <a:xfrm>
            <a:off x="-5000478" y="7114857"/>
            <a:ext cx="26892706" cy="603055"/>
          </a:xfrm>
          <a:custGeom>
            <a:avLst/>
            <a:gdLst/>
            <a:ahLst/>
            <a:cxnLst/>
            <a:rect l="l" t="t" r="r" b="b"/>
            <a:pathLst>
              <a:path w="26892706" h="603055">
                <a:moveTo>
                  <a:pt x="0" y="0"/>
                </a:moveTo>
                <a:lnTo>
                  <a:pt x="26892705" y="0"/>
                </a:lnTo>
                <a:lnTo>
                  <a:pt x="26892705" y="603055"/>
                </a:lnTo>
                <a:lnTo>
                  <a:pt x="0" y="603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TextBox 4"/>
          <p:cNvSpPr txBox="1"/>
          <p:nvPr/>
        </p:nvSpPr>
        <p:spPr>
          <a:xfrm>
            <a:off x="4655315" y="649605"/>
            <a:ext cx="1550641" cy="41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71717"/>
                </a:solidFill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80095" y="670236"/>
            <a:ext cx="1298753" cy="38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71717"/>
                </a:solidFill>
                <a:latin typeface="Noto Sans"/>
                <a:ea typeface="Noto Sans"/>
                <a:cs typeface="Noto Sans"/>
                <a:sym typeface="Noto Sans"/>
              </a:rPr>
              <a:t>Развитие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45875" y="623221"/>
            <a:ext cx="9537325" cy="3445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344"/>
              </a:lnSpc>
            </a:pPr>
            <a:r>
              <a:rPr lang="en-US" sz="3413" b="1" dirty="0">
                <a:solidFill>
                  <a:srgbClr val="171717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2025</a:t>
            </a:r>
          </a:p>
          <a:p>
            <a:pPr algn="r">
              <a:lnSpc>
                <a:spcPts val="12891"/>
              </a:lnSpc>
            </a:pPr>
            <a:r>
              <a:rPr lang="en-US" sz="13154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ПЛАН</a:t>
            </a:r>
          </a:p>
          <a:p>
            <a:pPr algn="r">
              <a:lnSpc>
                <a:spcPts val="9720"/>
              </a:lnSpc>
            </a:pPr>
            <a:r>
              <a:rPr lang="en-US" sz="13154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РАЗВИТИЯ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05448" y="5359100"/>
            <a:ext cx="5291652" cy="1613247"/>
            <a:chOff x="0" y="0"/>
            <a:chExt cx="7055536" cy="2150996"/>
          </a:xfrm>
        </p:grpSpPr>
        <p:sp>
          <p:nvSpPr>
            <p:cNvPr id="8" name="TextBox 8"/>
            <p:cNvSpPr txBox="1"/>
            <p:nvPr/>
          </p:nvSpPr>
          <p:spPr>
            <a:xfrm>
              <a:off x="154356" y="830656"/>
              <a:ext cx="6901180" cy="1320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4"/>
                </a:lnSpc>
              </a:pPr>
              <a:r>
                <a:rPr lang="en-US" sz="1638">
                  <a:solidFill>
                    <a:srgbClr val="EDEDED"/>
                  </a:solidFill>
                  <a:latin typeface="Noto Sans"/>
                  <a:ea typeface="Noto Sans"/>
                  <a:cs typeface="Noto Sans"/>
                  <a:sym typeface="Noto Sans"/>
                </a:rPr>
                <a:t>Интеграция с погодными данными и ML-моделями для прогноза урожайности. Ценность: Фермер будет знать, сколько заработает.</a:t>
              </a:r>
            </a:p>
            <a:p>
              <a:pPr algn="l">
                <a:lnSpc>
                  <a:spcPts val="2024"/>
                </a:lnSpc>
              </a:pPr>
              <a:endParaRPr lang="en-US" sz="1638">
                <a:solidFill>
                  <a:srgbClr val="EDEDED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6942"/>
              <a:ext cx="451256" cy="563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93"/>
                </a:lnSpc>
              </a:pPr>
              <a:r>
                <a:rPr lang="en-US" sz="2566" b="1">
                  <a:solidFill>
                    <a:srgbClr val="EDEDE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1) 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256" y="-47625"/>
              <a:ext cx="6283808" cy="557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93"/>
                </a:lnSpc>
              </a:pPr>
              <a:r>
                <a:rPr lang="en-US" sz="2566" b="1">
                  <a:solidFill>
                    <a:srgbClr val="EDEDED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Прогнозирование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19720" y="7956037"/>
            <a:ext cx="5175885" cy="1863040"/>
            <a:chOff x="0" y="0"/>
            <a:chExt cx="6901180" cy="2484053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38100"/>
              <a:ext cx="538582" cy="563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93"/>
                </a:lnSpc>
              </a:pPr>
              <a:r>
                <a:rPr lang="en-US" sz="2566" b="1">
                  <a:solidFill>
                    <a:srgbClr val="EDEDE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2) 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8015" y="-27254"/>
              <a:ext cx="4484573" cy="11545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93"/>
                </a:lnSpc>
              </a:pPr>
              <a:r>
                <a:rPr lang="en-US" sz="2566" b="1">
                  <a:solidFill>
                    <a:srgbClr val="EDEDED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Автоматизация</a:t>
              </a:r>
            </a:p>
            <a:p>
              <a:pPr algn="l">
                <a:lnSpc>
                  <a:spcPts val="3593"/>
                </a:lnSpc>
              </a:pPr>
              <a:endParaRPr lang="en-US" sz="2566" b="1">
                <a:solidFill>
                  <a:srgbClr val="EDEDED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833514"/>
              <a:ext cx="6901180" cy="1650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4"/>
                </a:lnSpc>
              </a:pPr>
              <a:r>
                <a:rPr lang="en-US" sz="1638">
                  <a:solidFill>
                    <a:srgbClr val="EDEDED"/>
                  </a:solidFill>
                  <a:latin typeface="Noto Sans"/>
                  <a:ea typeface="Noto Sans"/>
                  <a:cs typeface="Noto Sans"/>
                  <a:sym typeface="Noto Sans"/>
                </a:rPr>
                <a:t>Автоматическое определение типов аномалий (вредители, болезни, засуха) с помощью компьютерного зрения. Ценность: Мгновенные оповещения о конкретных угрозах.</a:t>
              </a:r>
            </a:p>
            <a:p>
              <a:pPr algn="l">
                <a:lnSpc>
                  <a:spcPts val="2024"/>
                </a:lnSpc>
              </a:pPr>
              <a:endParaRPr lang="en-US" sz="1638">
                <a:solidFill>
                  <a:srgbClr val="EDEDED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083415" y="5143500"/>
            <a:ext cx="5175885" cy="1854782"/>
            <a:chOff x="0" y="0"/>
            <a:chExt cx="6901180" cy="247304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323850"/>
              <a:ext cx="4477931" cy="8383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416"/>
                </a:lnSpc>
              </a:pPr>
              <a:r>
                <a:rPr lang="en-US" sz="2566" b="1">
                  <a:solidFill>
                    <a:srgbClr val="EDEDED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03) Интеграция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22503"/>
              <a:ext cx="6901180" cy="1650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4"/>
                </a:lnSpc>
              </a:pPr>
              <a:r>
                <a:rPr lang="en-US" sz="1638">
                  <a:solidFill>
                    <a:srgbClr val="EDEDED"/>
                  </a:solidFill>
                  <a:latin typeface="Noto Sans"/>
                  <a:ea typeface="Noto Sans"/>
                  <a:cs typeface="Noto Sans"/>
                  <a:sym typeface="Noto Sans"/>
                </a:rPr>
                <a:t>API для интеграции с агродронами и "умной" сельхозтехникой для автоматического точечного внесения удобрений. Ценность: Полностью автоматизированный цикл "анализ-действие".</a:t>
              </a:r>
            </a:p>
            <a:p>
              <a:pPr algn="l">
                <a:lnSpc>
                  <a:spcPts val="2024"/>
                </a:lnSpc>
              </a:pPr>
              <a:endParaRPr lang="en-US" sz="1638">
                <a:solidFill>
                  <a:srgbClr val="EDEDED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8415" y="-66551"/>
            <a:ext cx="17591132" cy="4712837"/>
          </a:xfrm>
          <a:custGeom>
            <a:avLst/>
            <a:gdLst/>
            <a:ahLst/>
            <a:cxnLst/>
            <a:rect l="l" t="t" r="r" b="b"/>
            <a:pathLst>
              <a:path w="17591132" h="4712837">
                <a:moveTo>
                  <a:pt x="0" y="0"/>
                </a:moveTo>
                <a:lnTo>
                  <a:pt x="17591132" y="0"/>
                </a:lnTo>
                <a:lnTo>
                  <a:pt x="17591132" y="4712836"/>
                </a:lnTo>
                <a:lnTo>
                  <a:pt x="0" y="47128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4933521" y="995239"/>
            <a:ext cx="401384" cy="401564"/>
            <a:chOff x="0" y="0"/>
            <a:chExt cx="401384" cy="4015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1447" cy="401574"/>
            </a:xfrm>
            <a:custGeom>
              <a:avLst/>
              <a:gdLst/>
              <a:ahLst/>
              <a:cxnLst/>
              <a:rect l="l" t="t" r="r" b="b"/>
              <a:pathLst>
                <a:path w="401447" h="401574">
                  <a:moveTo>
                    <a:pt x="0" y="401574"/>
                  </a:moveTo>
                  <a:lnTo>
                    <a:pt x="401447" y="401574"/>
                  </a:lnTo>
                  <a:lnTo>
                    <a:pt x="4014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7863507" y="1188634"/>
            <a:ext cx="7960576" cy="19050"/>
            <a:chOff x="0" y="0"/>
            <a:chExt cx="7960576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960614" cy="19050"/>
            </a:xfrm>
            <a:custGeom>
              <a:avLst/>
              <a:gdLst/>
              <a:ahLst/>
              <a:cxnLst/>
              <a:rect l="l" t="t" r="r" b="b"/>
              <a:pathLst>
                <a:path w="7960614" h="19050">
                  <a:moveTo>
                    <a:pt x="0" y="19050"/>
                  </a:moveTo>
                  <a:lnTo>
                    <a:pt x="7960614" y="19050"/>
                  </a:lnTo>
                  <a:lnTo>
                    <a:pt x="79606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6068732" y="992791"/>
            <a:ext cx="1107557" cy="410747"/>
            <a:chOff x="0" y="0"/>
            <a:chExt cx="1107554" cy="410743"/>
          </a:xfrm>
        </p:grpSpPr>
        <p:sp>
          <p:nvSpPr>
            <p:cNvPr id="10" name="Freeform 10"/>
            <p:cNvSpPr/>
            <p:nvPr/>
          </p:nvSpPr>
          <p:spPr>
            <a:xfrm>
              <a:off x="63500" y="63500"/>
              <a:ext cx="283718" cy="283718"/>
            </a:xfrm>
            <a:custGeom>
              <a:avLst/>
              <a:gdLst/>
              <a:ahLst/>
              <a:cxnLst/>
              <a:rect l="l" t="t" r="r" b="b"/>
              <a:pathLst>
                <a:path w="283718" h="283718">
                  <a:moveTo>
                    <a:pt x="0" y="283718"/>
                  </a:moveTo>
                  <a:lnTo>
                    <a:pt x="283718" y="283718"/>
                  </a:lnTo>
                  <a:lnTo>
                    <a:pt x="2837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412369" y="63500"/>
              <a:ext cx="283718" cy="283718"/>
            </a:xfrm>
            <a:custGeom>
              <a:avLst/>
              <a:gdLst/>
              <a:ahLst/>
              <a:cxnLst/>
              <a:rect l="l" t="t" r="r" b="b"/>
              <a:pathLst>
                <a:path w="283718" h="283718">
                  <a:moveTo>
                    <a:pt x="0" y="283718"/>
                  </a:moveTo>
                  <a:lnTo>
                    <a:pt x="283718" y="283718"/>
                  </a:lnTo>
                  <a:lnTo>
                    <a:pt x="2837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760349" y="63500"/>
              <a:ext cx="283718" cy="283718"/>
            </a:xfrm>
            <a:custGeom>
              <a:avLst/>
              <a:gdLst/>
              <a:ahLst/>
              <a:cxnLst/>
              <a:rect l="l" t="t" r="r" b="b"/>
              <a:pathLst>
                <a:path w="283718" h="283718">
                  <a:moveTo>
                    <a:pt x="0" y="283718"/>
                  </a:moveTo>
                  <a:lnTo>
                    <a:pt x="283718" y="283718"/>
                  </a:lnTo>
                  <a:lnTo>
                    <a:pt x="2837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028320" y="1013155"/>
            <a:ext cx="1550641" cy="389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3"/>
              </a:lnSpc>
            </a:pPr>
            <a:r>
              <a:rPr lang="en-US" sz="219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R² negative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11298" y="1031653"/>
            <a:ext cx="1844126" cy="356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3"/>
              </a:lnSpc>
            </a:pPr>
            <a:r>
              <a:rPr lang="en-US" sz="2199">
                <a:solidFill>
                  <a:srgbClr val="292929"/>
                </a:solidFill>
                <a:latin typeface="Noto Sans"/>
                <a:ea typeface="Noto Sans"/>
                <a:cs typeface="Noto Sans"/>
                <a:sym typeface="Noto Sans"/>
              </a:rPr>
              <a:t>Презентация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88286" y="1614630"/>
            <a:ext cx="12713713" cy="2868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92"/>
              </a:lnSpc>
            </a:pPr>
            <a:r>
              <a:rPr lang="en-US" sz="18870" b="1" dirty="0">
                <a:solidFill>
                  <a:srgbClr val="292929"/>
                </a:solidFill>
                <a:latin typeface="Klein Heavy"/>
                <a:ea typeface="Klein Heavy"/>
                <a:cs typeface="Klein Heavy"/>
                <a:sym typeface="Klein Heavy"/>
              </a:rPr>
              <a:t>СПАСИБО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935</Words>
  <Application>Microsoft Office PowerPoint</Application>
  <PresentationFormat>Произвольный</PresentationFormat>
  <Paragraphs>239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Klein Heavy</vt:lpstr>
      <vt:lpstr>Akzidenz-Grotesk Bold</vt:lpstr>
      <vt:lpstr>Arial</vt:lpstr>
      <vt:lpstr>Open Sans Bold</vt:lpstr>
      <vt:lpstr>Noto Sans</vt:lpstr>
      <vt:lpstr>Open Sauce</vt:lpstr>
      <vt:lpstr>Open Sauce Bold</vt:lpstr>
      <vt:lpstr>Noto Sans 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Преза1</dc:title>
  <dc:creator>Кристина Падукова</dc:creator>
  <cp:lastModifiedBy>Igor Borisov</cp:lastModifiedBy>
  <cp:revision>4</cp:revision>
  <dcterms:created xsi:type="dcterms:W3CDTF">2006-08-16T00:00:00Z</dcterms:created>
  <dcterms:modified xsi:type="dcterms:W3CDTF">2026-06-05T19:58:15Z</dcterms:modified>
  <dc:identifier>DAG2FrMAyEU</dc:identifier>
</cp:coreProperties>
</file>